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내부용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크롬 확장프로그램 기반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 기획서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 임직원 5만명을 위한 AI Browser OS 플랫폼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50592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3D7FFF">
              <a:alpha val="18000"/>
            </a:srgbClr>
          </a:solidFill>
          <a:ln w="6350">
            <a:solidFill>
              <a:srgbClr val="3D7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MV3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51176" y="2450592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F4560">
              <a:alpha val="18000"/>
            </a:srgbClr>
          </a:solidFill>
          <a:ln w="6350">
            <a:solidFill>
              <a:srgbClr val="FF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90872" y="2450592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00C896">
              <a:alpha val="18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Multi-Agent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30568" y="2450592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89504"/>
            <a:ext cx="196596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645.5K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51176" y="2834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51176" y="2889504"/>
            <a:ext cx="196596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51176" y="3410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0872" y="2834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90872" y="2889504"/>
            <a:ext cx="196596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220-270%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90872" y="3410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0568" y="2834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30568" y="2889504"/>
            <a:ext cx="196596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30568" y="34107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현대오토에버  ·  AI 플랫폼팀  ·  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— 6개 파트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5A9A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697480" cy="36576"/>
          </a:xfrm>
          <a:prstGeom prst="rect">
            <a:avLst/>
          </a:prstGeom>
          <a:solidFill>
            <a:srgbClr val="5A9AFF"/>
          </a:solidFill>
          <a:ln w="12700">
            <a:solidFill>
              <a:srgbClr val="5A9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789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3167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종합분석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276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· 시장동향 · SWOT · GAP 분석 · 문서체계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87552"/>
            <a:ext cx="2697480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789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64408" y="13167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기획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비전/미션 · 페르소나 · 핵심기능 · UX · 비즈니스 모델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987552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87552"/>
            <a:ext cx="269748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10789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9048" y="13167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6276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Stack · Smart DOM · MARS · 보안 · Self-Healing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98064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98064"/>
            <a:ext cx="269748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889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설계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4381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 · Side Panel · Popup · 컴포넌트 재사용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2798064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798064"/>
            <a:ext cx="269748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889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로드맵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4381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 타임라인 · 팀구성 · 예산 · 품질 게이트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9320" y="2798064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798064"/>
            <a:ext cx="2697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2889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9048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및 의사결정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34381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· ARR · 경쟁해자 · 리스크 · 승인 요청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프로젝트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 AI Browser OS는 현대차그룹 임직원 5만명이 Chrome을 떠나지 않고 Side Panel의 AI와 대화하며 정보 탐색-분석-의사결정-실행을 완결하는 자율형 AI 플랫폼입니다.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201168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645.5K USD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13명 / 30주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59736" y="120700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9736" y="1261872"/>
            <a:ext cx="201168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12-14개월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9736" y="1783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손익분기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59736" y="19751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Point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99432" y="120700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261872"/>
            <a:ext cx="201168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12.1M 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99432" y="1783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 ARR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99432" y="19751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B2B 확산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39128" y="1207008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261872"/>
            <a:ext cx="2011680" cy="518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 USD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39128" y="1783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세션당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39128" y="19751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1.00 대비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67712"/>
          <a:ext cx="8503920" cy="214884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28016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판단 항목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결론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근거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기술 타당성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조건부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SAP Fiori Shadow DOM PoC 성공이 전제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비즈니스 타당성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ROI 220-270%, ARR $12.1M 달성 가능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구현 가능성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기존 모노레포 12개 모듈 재활용 — 30% 단축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리스크 수준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Smart DOM + MARS 비용이 최대 변수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동향 — AI 브라우저 CAGR 48.2%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416052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731520"/>
                <a:gridCol w="594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세그먼트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CAGR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글로벌 엔터프라이즈 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$62B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$210B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35.7%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AI 브라우저 시장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$2.1B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$8.7B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48.2%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Chrome Extension 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$0.3B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$3.2B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62.0%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한국 기업 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$3.1B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$11.8B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39.4%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17720" y="9601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17720" y="960120"/>
            <a:ext cx="45720" cy="804672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73168" y="10241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전환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73168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500 40% 파일럿 · 2027년 $65B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8745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45720" cy="804672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9385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Browser-as-Platform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73168" y="2176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 UX 표준화 · 설치 장벽 제로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27889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788920"/>
            <a:ext cx="45720" cy="8046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28529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주권 강화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73168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· 한국 AI 기본법 시행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37033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3703320"/>
            <a:ext cx="45720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37673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확산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73168" y="40050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텍스트+이미지+코드+데이터 통합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인사이트: 한국 기업 AI 도입률 72% — 핵심 업무 통합 단 19% → H Chat이 52%p 갭 공략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업무 병목 — Before /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6984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분절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380744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FF4560">
              <a:alpha val="25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807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34440" y="1380744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7개+ 시스템 탭 전환, 일 300회+, 47분/일 손실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" y="1636776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3677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34440" y="1636776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 단일 인터페이스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" y="1911096"/>
            <a:ext cx="3840480" cy="237744"/>
          </a:xfrm>
          <a:prstGeom prst="roundRect">
            <a:avLst>
              <a:gd name="adj" fmla="val 19231"/>
            </a:avLst>
          </a:prstGeom>
          <a:solidFill>
            <a:srgbClr val="FF4560">
              <a:alpha val="20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9110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87% 시간 절감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60120"/>
            <a:ext cx="4114800" cy="36576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06984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과부하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73168" y="1380744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FF4560">
              <a:alpha val="25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3807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77840" y="1380744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60-70% 노이즈, 23분/건 탐색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1636776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63677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77840" y="1636776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 노이즈 제거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1911096"/>
            <a:ext cx="3840480" cy="237744"/>
          </a:xfrm>
          <a:prstGeom prst="roundRect">
            <a:avLst>
              <a:gd name="adj" fmla="val 19231"/>
            </a:avLst>
          </a:prstGeom>
          <a:solidFill>
            <a:srgbClr val="FF7C45">
              <a:alpha val="20000"/>
            </a:srgbClr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9110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23분 → 3분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08376"/>
            <a:ext cx="411480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1181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" y="3429000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FF4560">
              <a:alpha val="25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429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34440" y="342900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보고서/데이터 수집 반복, 주 8-12시간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9768" y="3685032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6850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234440" y="368503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자율 에이전트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9768" y="3959352"/>
            <a:ext cx="3840480" cy="237744"/>
          </a:xfrm>
          <a:prstGeom prst="roundRect">
            <a:avLst>
              <a:gd name="adj" fmla="val 19231"/>
            </a:avLst>
          </a:prstGeom>
          <a:solidFill>
            <a:srgbClr val="FFB347">
              <a:alpha val="2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959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95% 자동화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008376"/>
            <a:ext cx="41148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1181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주권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73168" y="3429000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FF4560">
              <a:alpha val="25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429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77840" y="342900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AI에 사내 데이터 입력, 68% 유출 위험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73168" y="3685032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6850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77840" y="368503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원천 차단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73168" y="3959352"/>
            <a:ext cx="384048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959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유출 0건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 선언 + 4대 핵심 태그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"브라우저가 곧 OS다 — 모든 업무를 떠나지 않고 AI와 함께 완결한다"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45720" cy="11887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258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560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앱 불필요 · Forcelist 강제 배포 · 설치율 95%+ · 탭 전환 없음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48840"/>
            <a:ext cx="45720" cy="11887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258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2560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11패턴 마스킹 · 사내 Proxy 경유 · 외부 유출 0건 보장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74720"/>
            <a:ext cx="45720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Multi-Agent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886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자율 리서치 파이프라인 · LangGraph+CrewAI · $0.27/세션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474720"/>
            <a:ext cx="45720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886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프로바이더 · 작업별 최적 LLM 자동 할당 · 비용 최소화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분석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01952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5720" cy="19019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51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Strengths 강점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34416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10개 앱 프로덕션 자산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5,997개 테스트 / 89.24% 커버리지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86개 LLM 모델 라우팅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 UI 컴포넌트 재활용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인프라 (PG16+Redis7)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기반 (RBAC·SSO·JWT)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901952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5720" cy="190195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51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Weaknesses 약점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34416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 미검증 (SAP Fiori)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비용 불확실성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전문인력 부족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처리 복잡성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990088"/>
            <a:ext cx="4114800" cy="1901952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90088"/>
            <a:ext cx="45720" cy="1901952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81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Opportunities 기회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3374136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브라우저 CAGR 48.2%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주권 규제 강화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전환 가속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설치율 95%+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 5만명 즉시 타겟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990088"/>
            <a:ext cx="4114800" cy="1901952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90088"/>
            <a:ext cx="45720" cy="19019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081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Threats 위협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3374136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Copilot 경쟁 심화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비용 인상 가능성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정책 변경 리스크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GPT/Gemini 자체 브라우저 통합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분석 — 14개 영역 · 신규 19개 모듈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456432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1371600"/>
                <a:gridCol w="2560320"/>
                <a:gridCol w="59436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현재 상태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L2 Smart DOM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기본 sanitize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Readability.js + RQFP + Shadow DOM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L3 DataFrame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SheetJS Excel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HTML 테이블 자동감지→JSON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PII Scrubbing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7패턴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11패턴 + 99.9% 탐지율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P0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L4 MARS Agent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단일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LangGraph 6단계 + HITL Gate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프로바이더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5+ 프로바이더 Dynamic 라우팅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감사 로그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토큰 추적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L1~L4 불변 감사 (SHA-256 체인)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P1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Self-Healing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useCircuitBreaker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DOM 변경 감지+자동 복구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</a:rPr>
                        <a:t>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5F7"/>
                          </a:solidFill>
                        </a:rPr>
                        <a:t>P2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블록리스트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20도메인+6패턴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동일 — 충족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</a:rPr>
                        <a:t>충족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52628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개발 모듈 19개 / ~6,100줄  ·  기존 자산 12개 재활용 → 개발 기간 30% 단축  ·  기존 테스트 5,997개 + 신규 3,350개 = 9,350+ 목표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종합분석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체계 — 총 28개 문서 / ~12,000줄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5A64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697480" cy="36576"/>
          </a:xfrm>
          <a:prstGeom prst="rect">
            <a:avLst/>
          </a:prstGeom>
          <a:solidFill>
            <a:srgbClr val="5A6480"/>
          </a:solidFill>
          <a:ln w="12700">
            <a:solidFill>
              <a:srgbClr val="5A6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97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원본 자료 (2건)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40817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슬라이드 — C-Level 전략 + 기술 비전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87552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5A9A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87552"/>
            <a:ext cx="2697480" cy="36576"/>
          </a:xfrm>
          <a:prstGeom prst="rect">
            <a:avLst/>
          </a:prstGeom>
          <a:solidFill>
            <a:srgbClr val="5A9AFF"/>
          </a:solidFill>
          <a:ln w="12700">
            <a:solidFill>
              <a:srgbClr val="5A9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97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심층 분석 (2건)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64408" y="140817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~880줄 — 패러다임 + 코드 매핑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987552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987552"/>
            <a:ext cx="2697480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1097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구현 설계 (11건)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9048" y="140817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~4,500줄 — 아키텍처 + 모듈 설계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269748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개발 계획 (6건)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25526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~2,600줄 — 스프린트 계획 + Gantt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34640"/>
            <a:ext cx="269748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서비스 기획 (5건)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25526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~2,500줄 — BMC + 기능 명세 + KPI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2834640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834640"/>
            <a:ext cx="269748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에코시스템 보정 (4건)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048" y="325526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~1,500줄 — 리스크 + 통합 전략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70916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7823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~30건 / ~12,000줄 — 전략부터 구현까지 완전한 문서 체계 구축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기획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비전/미션  ·  타겟 페르소나  ·  핵심 기능 명세  ·  UX 시나리오  ·  비즈니스 모델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서비스 기획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페르소나 — 4유형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9848"/>
            <a:ext cx="502920" cy="502920"/>
          </a:xfrm>
          <a:prstGeom prst="ellipse">
            <a:avLst/>
          </a:prstGeom>
          <a:solidFill>
            <a:srgbClr val="F0C040">
              <a:alpha val="28000"/>
            </a:srgbClr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0698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 김 상무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 전략본부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[痛] 시장 보고서 수작업 3일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[解] MARS → 30분 자동 생성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3822192" cy="219456"/>
          </a:xfrm>
          <a:prstGeom prst="roundRect">
            <a:avLst>
              <a:gd name="adj" fmla="val 16667"/>
            </a:avLst>
          </a:prstGeom>
          <a:solidFill>
            <a:srgbClr val="F0C040">
              <a:alpha val="20000"/>
            </a:srgbClr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의사결정 50% 단축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69848"/>
            <a:ext cx="502920" cy="502920"/>
          </a:xfrm>
          <a:prstGeom prst="ellipse">
            <a:avLst/>
          </a:prstGeom>
          <a:solidFill>
            <a:srgbClr val="00C896">
              <a:alpha val="28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698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박 팀장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1307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현대모비스 품질관리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[痛] 주간보고 데이터 취합 3시간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1856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[解] Side Panel 자동 요약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2112264"/>
            <a:ext cx="3822192" cy="219456"/>
          </a:xfrm>
          <a:prstGeom prst="roundRect">
            <a:avLst>
              <a:gd name="adj" fmla="val 16667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12264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3시간 → 20분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FF7C45">
              <a:alpha val="28000"/>
            </a:srgbClr>
          </a:solidFill>
          <a:ln w="10160">
            <a:solidFill>
              <a:srgbClr val="FF7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1181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지식노동자 이 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 상품기획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[痛] 경쟁사 리서치 23분/건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904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[解] Smart DOM + MARS 자동화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3822192" cy="219456"/>
          </a:xfrm>
          <a:prstGeom prst="roundRect">
            <a:avLst>
              <a:gd name="adj" fmla="val 16667"/>
            </a:avLst>
          </a:prstGeom>
          <a:solidFill>
            <a:srgbClr val="FF7C45">
              <a:alpha val="20000"/>
            </a:srgbClr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0520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리서치 60% 절감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118104"/>
            <a:ext cx="502920" cy="502920"/>
          </a:xfrm>
          <a:prstGeom prst="ellipse">
            <a:avLst/>
          </a:prstGeom>
          <a:solidFill>
            <a:srgbClr val="3D7FFF">
              <a:alpha val="28000"/>
            </a:srgbClr>
          </a:solidFill>
          <a:ln w="10160">
            <a:solidFill>
              <a:srgbClr val="3D7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1181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엔지니어 최 과장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33558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현대오토에버 인프라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6941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[痛] AI 도입 보안 심의 6개월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904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[解] Zero Trust 아키텍처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4160520"/>
            <a:ext cx="3822192" cy="219456"/>
          </a:xfrm>
          <a:prstGeom prst="roundRect">
            <a:avLst>
              <a:gd name="adj" fmla="val 16667"/>
            </a:avLst>
          </a:prstGeom>
          <a:solidFill>
            <a:srgbClr val="3D7FFF">
              <a:alpha val="20000"/>
            </a:srgbClr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160520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보안 검증 2주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서비스 기획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16개 — P0 / P1 / P2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Foundation (Phase 1)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 Side Panel Agent 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 Smart DOM 추출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 컨텍스트 메뉴 분석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 SSE 스트리밍 응답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 PII 마스킹 &amp; 보안 (11패턴)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2724912" cy="36576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Core Value (Phase 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82696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 DataFrame 자동 변환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 Dynamic Multi-Model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 MARS 리서치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 에이전틱 브라우징 RPA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 HITL 승인 체계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F14 감사 로그 대시보드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 봇 탐지 우회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F16 Omnibox 통합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60120"/>
            <a:ext cx="2724912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Enhancement (Phase 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35624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 Self-Healing 자가 복구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F12 시맨틱 DOM 시각화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F13 오프라인 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크리티컬 패스: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F01→F04→F06→F07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F02→F05→F07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서비스 기획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시나리오 5선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7432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1920240"/>
                <a:gridCol w="2011680"/>
                <a:gridCol w="822960"/>
                <a:gridCol w="1508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트리거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기술 흐름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소요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개선율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웹페이지 즉석 요약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2B0"/>
                          </a:solidFill>
                        </a:rPr>
                        <a:t>Omnibox: hc 요약해줘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9AFF"/>
                          </a:solidFill>
                        </a:rPr>
                        <a:t>L2 Smart DOM → Chat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3~5초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87%↓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경쟁사 조사 자동화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2B0"/>
                          </a:solidFill>
                        </a:rPr>
                        <a:t>Side Panel 리서치 탭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9AFF"/>
                          </a:solidFill>
                        </a:rPr>
                        <a:t>L4 MARS 6단계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8~12분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MARS 자율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Jira 티켓 자동 분류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2B0"/>
                          </a:solidFill>
                        </a:rPr>
                        <a:t>Context Menu → 분류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9AFF"/>
                          </a:solidFill>
                        </a:rPr>
                        <a:t>L1 Content Script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3~5분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90%↓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SAP 재고 → Excel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2B0"/>
                          </a:solidFill>
                        </a:rPr>
                        <a:t>Context Menu → 추출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9AFF"/>
                          </a:solidFill>
                        </a:rPr>
                        <a:t>L3 DataFrame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1~3분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95%↓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회의록 액션 아이템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2B0"/>
                          </a:solidFill>
                        </a:rPr>
                        <a:t>Popup → 액션 추출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9AFF"/>
                          </a:solidFill>
                        </a:rPr>
                        <a:t>L2 → Chat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1~2분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자동화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822192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시나리오가 Chrome Extension 내에서 완결 — 별도 앱 전환 불필요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서비스 기획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가격 정책 + 단위 경제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$8/월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29768" y="1819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97864" y="18196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개인/소규모팀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1122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97864" y="21122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50회/일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24048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97864" y="24048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모델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2697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97864" y="2697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수동 설치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" y="29900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97864" y="29900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72968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960120"/>
            <a:ext cx="2724912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102412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1298448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$18/월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282696" y="1819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50792" y="18196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 단위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82696" y="21122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50792" y="21122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200회/일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82696" y="24048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50792" y="24048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GPT-4o, Sonnet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82696" y="2697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50792" y="2697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82696" y="29900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50792" y="29900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25896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1E3A5F"/>
          </a:solidFill>
          <a:ln w="63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25896" y="960120"/>
            <a:ext cx="2724912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1024128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25896" y="1298448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$30/월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6135624" y="1819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03720" y="18196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그룹사/대기업 1,000석+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35624" y="21122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03720" y="21122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35624" y="24048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03720" y="24048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Opus, o3 전체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35624" y="2697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2697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강제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35624" y="29900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03720" y="29900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432511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3251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325880" y="4325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67128" y="432511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배포 효과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172968" y="432511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4408" y="43251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ARPU/월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78808" y="4325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0056" y="432511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기준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25896" y="432511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17336" y="43251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031736" y="43251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872984" y="432511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비용 35%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20040" y="473659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325880" y="4736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167128" y="473659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36개월 유지 기준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172968" y="473659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64408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178808" y="4736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48x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20056" y="473659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평균 3~5x 대비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025896" y="4736592"/>
            <a:ext cx="2724912" cy="365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17336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031736" y="4736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&lt;1개월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872984" y="4736592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즉시 사용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Stack  ·  Smart DOM  ·  MARS 6단계  ·  Multi-Model  ·  Zero Trust  ·  Self-Healing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기술 아키텍처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+ Cross-cutting 아키텍처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6576" cy="80467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96696"/>
            <a:ext cx="384048" cy="292608"/>
          </a:xfrm>
          <a:prstGeom prst="ellipse">
            <a:avLst/>
          </a:prstGeom>
          <a:solidFill>
            <a:srgbClr val="FF4560">
              <a:alpha val="30000"/>
            </a:srgbClr>
          </a:solidFill>
          <a:ln w="6350">
            <a:solidFill>
              <a:srgbClr val="FF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9669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996696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Agent Factory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7818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CrewAI 6단계 자율 리서치 파이프라인 · HITL Gate · AgentOrchestrator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$0.27/세션 · 120초 이내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36576" cy="804672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11096"/>
            <a:ext cx="384048" cy="292608"/>
          </a:xfrm>
          <a:prstGeom prst="ellipse">
            <a:avLst/>
          </a:prstGeom>
          <a:solidFill>
            <a:srgbClr val="FF7C45">
              <a:alpha val="30000"/>
            </a:srgbClr>
          </a:solidFill>
          <a:ln w="6350">
            <a:solidFill>
              <a:srgbClr val="FF7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1109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911096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130552"/>
            <a:ext cx="7818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테이블 자동 감지 → JSON/CSV/XLSX 자동 변환 · Web Worker · SheetJS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95% 감지율 · 1초/&lt;1000행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36576" cy="804672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825496"/>
            <a:ext cx="384048" cy="292608"/>
          </a:xfrm>
          <a:prstGeom prst="ellipse">
            <a:avLst/>
          </a:prstGeom>
          <a:solidFill>
            <a:srgbClr val="00E5C0">
              <a:alpha val="30000"/>
            </a:srgbClr>
          </a:solidFill>
          <a:ln w="6350">
            <a:solidFill>
              <a:srgbClr val="00E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25496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3044952"/>
            <a:ext cx="7818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Readability.js + RQFP(R×0.4+Q×0.4+F×0.2) + Shadow DOM · SAP Fiori Adapter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$0.12/작업 · 2초 이내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03320"/>
            <a:ext cx="36576" cy="804672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739896"/>
            <a:ext cx="384048" cy="292608"/>
          </a:xfrm>
          <a:prstGeom prst="ellipse">
            <a:avLst/>
          </a:prstGeom>
          <a:solidFill>
            <a:srgbClr val="3D7FFF">
              <a:alpha val="30000"/>
            </a:srgbClr>
          </a:solidFill>
          <a:ln w="6350">
            <a:solidFill>
              <a:srgbClr val="3D7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3989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7818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Extension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3959352"/>
            <a:ext cx="7818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MV3 · Side Panel · Content Script · Service Worker · Omnibox · Stealth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기반 인프라 · 모든 탭 접근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736592"/>
            <a:ext cx="1993392" cy="228600"/>
          </a:xfrm>
          <a:prstGeom prst="roundRect">
            <a:avLst>
              <a:gd name="adj" fmla="val 20000"/>
            </a:avLst>
          </a:prstGeom>
          <a:solidFill>
            <a:srgbClr val="3D7FFF">
              <a:alpha val="18000"/>
            </a:srgbClr>
          </a:solidFill>
          <a:ln w="6350">
            <a:solidFill>
              <a:srgbClr val="3D7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36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78024" y="4736592"/>
            <a:ext cx="1993392" cy="228600"/>
          </a:xfrm>
          <a:prstGeom prst="roundRect">
            <a:avLst>
              <a:gd name="adj" fmla="val 20000"/>
            </a:avLst>
          </a:prstGeom>
          <a:solidFill>
            <a:srgbClr val="FF7C45">
              <a:alpha val="18000"/>
            </a:srgbClr>
          </a:solidFill>
          <a:ln w="6350">
            <a:solidFill>
              <a:srgbClr val="FF7C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78024" y="4736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36008" y="4736592"/>
            <a:ext cx="1993392" cy="228600"/>
          </a:xfrm>
          <a:prstGeom prst="roundRect">
            <a:avLst>
              <a:gd name="adj" fmla="val 20000"/>
            </a:avLst>
          </a:prstGeom>
          <a:solidFill>
            <a:srgbClr val="FF4560">
              <a:alpha val="18000"/>
            </a:srgbClr>
          </a:solidFill>
          <a:ln w="6350">
            <a:solidFill>
              <a:srgbClr val="FF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4736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93992" y="4736592"/>
            <a:ext cx="1993392" cy="228600"/>
          </a:xfrm>
          <a:prstGeom prst="roundRect">
            <a:avLst>
              <a:gd name="adj" fmla="val 20000"/>
            </a:avLst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4736592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기술 아키텍처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Smart DOM — RQFP 엔진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RQFP 가중 평균 공식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Relevance × 0.4  +  Quality × 0.4  +  Freshness × 0.2  (임계값 0.35 이상 통과)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45720" cy="118872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031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SmartDomExtractor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3957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RQFP 파이프라인 진입점. HTML 입력→SemanticTree 출력. ~300줄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11680"/>
            <a:ext cx="45720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1031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RqfpEngine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9272" y="23957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 평균 스코어링. R·Q·F 3개 축 계산. 임계값 0.35. ~350줄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9320" y="2011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2011680"/>
            <a:ext cx="45720" cy="11887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1031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ShadowDomTraverser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53912" y="23957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Open/Closed Shadow DOM 재귀 탐색. Slot content 처리. ~250줄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83280"/>
            <a:ext cx="45720" cy="118872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474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SapFioriAdapter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" y="37673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sap-ui-content 어댑터. Fiori DOM 패턴 5개 식별. ~350줄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33832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383280"/>
            <a:ext cx="45720" cy="1188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474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MutationStabilizer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7673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라우팅 감지. 변경 수렴 100ms 대기. ~250줄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기술 아키텍처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MARS Agent Factory — 6단계 파이프라인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87552"/>
            <a:ext cx="132588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3464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목표→연구 계획 JSON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9768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4560">
              <a:alpha val="22000"/>
            </a:srgbClr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63624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00784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0784" y="987552"/>
            <a:ext cx="1325880" cy="36576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55648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쿼리→URL+snippet 목록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01952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7C45">
              <a:alpha val="22000"/>
            </a:srgbClr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35808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72968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987552"/>
            <a:ext cx="132588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27832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27832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방문→SemanticTree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74136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FB347">
              <a:alpha val="2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07992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45152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987552"/>
            <a:ext cx="1325880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00016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추출 (L3 연계)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00E5C0">
              <a:alpha val="22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0176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17336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987552"/>
            <a:ext cx="132588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7336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72200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분석→InsightReport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18504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3D7FFF">
              <a:alpha val="22000"/>
            </a:srgbClr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52360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89520" y="987552"/>
            <a:ext cx="1325880" cy="352044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89520" y="987552"/>
            <a:ext cx="132588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44384" y="135331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44384" y="1664208"/>
            <a:ext cx="1216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마크다운 보고서 생성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90688" y="34564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90688" y="3456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8600" y="4645152"/>
            <a:ext cx="868680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합계: $0.27/세션  ·  최대 120초  ·  HITL Gate (Analysis 전 사용자 확인)  ·  LangGraph StateGraph 상태 관리  ·  ResearchState TypedDict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기술 아키텍처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 + Self-Healing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4041648"/>
          </a:xfrm>
          <a:prstGeom prst="roundRect">
            <a:avLst>
              <a:gd name="adj" fmla="val 1810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 Orchestrator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스코어링: q×0.4 + l×0.3 + c×0.2 + a×0.1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3072384" cy="347472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5910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추론·분석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688336" cy="347472"/>
          </a:xfrm>
          <a:prstGeom prst="rect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장문 생성·보고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2304288" cy="347472"/>
          </a:xfrm>
          <a:prstGeom prst="rect">
            <a:avLst/>
          </a:prstGeom>
          <a:solidFill>
            <a:srgbClr val="00E5C0">
              <a:alpha val="18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25786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리서치·검색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920240" cy="347472"/>
          </a:xfrm>
          <a:prstGeom prst="rect">
            <a:avLst/>
          </a:prstGeom>
          <a:solidFill>
            <a:srgbClr val="FFB347">
              <a:alpha val="18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3072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경량·번역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536192" cy="347472"/>
          </a:xfrm>
          <a:prstGeom prst="rect">
            <a:avLst/>
          </a:prstGeom>
          <a:solidFill>
            <a:srgbClr val="FF7C45">
              <a:alpha val="18000"/>
            </a:srgbClr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이미지·비전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169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Breaker: 30% 오류율 트리거 · Rate Limiter 토큰 버킷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960120"/>
            <a:ext cx="4206240" cy="4041648"/>
          </a:xfrm>
          <a:prstGeom prst="roundRect">
            <a:avLst>
              <a:gd name="adj" fmla="val 1810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005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System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353312"/>
            <a:ext cx="36576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716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3-Strike Rule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6093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MAX_HEAL = 3 · 3회 초과 시 OPEN 상태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993392"/>
            <a:ext cx="36576" cy="566928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116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백오프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2494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쿨다운 5분 → 15분 → 45분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633472"/>
            <a:ext cx="36576" cy="566928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51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+ LLM 진단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8895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구문 오류 85~90% 자동 수정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273552"/>
            <a:ext cx="36576" cy="566928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291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Diff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5295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패치 적용 · 복구 55~70% 단축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41696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SPEC-SH: MAX_HEAL=3 · OPEN 3600초 · 복구 55~70% 단축 확인 테스트 필수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기술 아키텍처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보안 아키텍처 — 6계층 방어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577840" cy="585216"/>
          </a:xfrm>
          <a:prstGeom prst="rect">
            <a:avLst/>
          </a:prstGeom>
          <a:solidFill>
            <a:srgbClr val="3D7FFF">
              <a:alpha val="10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05840"/>
            <a:ext cx="384048" cy="329184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033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CSP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77824" y="124358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script-src 'self' · eval 차단 · 외부 스크립트 완전 차단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5577840" cy="585216"/>
          </a:xfrm>
          <a:prstGeom prst="rect">
            <a:avLst/>
          </a:prstGeom>
          <a:solidFill>
            <a:srgbClr val="3D7FFF">
              <a:alpha val="22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64208"/>
            <a:ext cx="384048" cy="329184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6420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6916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Security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19019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+ TLS 1.3 + CORS Allowlist 적용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276856"/>
            <a:ext cx="5577840" cy="585216"/>
          </a:xfrm>
          <a:prstGeom prst="rect">
            <a:avLst/>
          </a:prstGeom>
          <a:solidFill>
            <a:srgbClr val="3D7FFF">
              <a:alpha val="34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322576"/>
            <a:ext cx="384048" cy="329184"/>
          </a:xfrm>
          <a:prstGeom prst="ellipse">
            <a:avLst/>
          </a:prstGeom>
          <a:solidFill>
            <a:srgbClr val="00E5C0">
              <a:alpha val="50000"/>
            </a:srgbClr>
          </a:solidFill>
          <a:ln w="6350">
            <a:solidFill>
              <a:srgbClr val="00E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22576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350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7824" y="25603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JWT + TOTP 2FA 이중 인증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5577840" cy="585216"/>
          </a:xfrm>
          <a:prstGeom prst="rect">
            <a:avLst/>
          </a:prstGeom>
          <a:solidFill>
            <a:srgbClr val="3D7FFF">
              <a:alpha val="46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980944"/>
            <a:ext cx="384048" cy="329184"/>
          </a:xfrm>
          <a:prstGeom prst="ellipse">
            <a:avLst/>
          </a:prstGeom>
          <a:solidFill>
            <a:srgbClr val="00E5C0">
              <a:alpha val="50000"/>
            </a:srgbClr>
          </a:solidFill>
          <a:ln w="6350">
            <a:solidFill>
              <a:srgbClr val="00E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8094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30083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7824" y="321868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Policy Engine + RBAC 역할 기반 접근 제어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593592"/>
            <a:ext cx="5577840" cy="585216"/>
          </a:xfrm>
          <a:prstGeom prst="rect">
            <a:avLst/>
          </a:prstGeom>
          <a:solidFill>
            <a:srgbClr val="3D7FFF">
              <a:alpha val="58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639312"/>
            <a:ext cx="384048" cy="329184"/>
          </a:xfrm>
          <a:prstGeom prst="ellipse">
            <a:avLst/>
          </a:prstGeom>
          <a:solidFill>
            <a:srgbClr val="FF7C45">
              <a:alpha val="50000"/>
            </a:srgbClr>
          </a:solidFill>
          <a:ln w="6350">
            <a:solidFill>
              <a:srgbClr val="FF7C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63931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7824" y="38770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11패턴 마스킹 + AES-256-GCM 암호화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5577840" cy="585216"/>
          </a:xfrm>
          <a:prstGeom prst="rect">
            <a:avLst/>
          </a:prstGeom>
          <a:solidFill>
            <a:srgbClr val="3D7FFF">
              <a:alpha val="70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4297680"/>
            <a:ext cx="384048" cy="329184"/>
          </a:xfrm>
          <a:prstGeom prst="ellipse">
            <a:avLst/>
          </a:prstGeom>
          <a:solidFill>
            <a:srgbClr val="FF4560">
              <a:alpha val="50000"/>
            </a:srgbClr>
          </a:solidFill>
          <a:ln w="6350">
            <a:solidFill>
              <a:srgbClr val="FF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29768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" y="4325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" y="45354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감사 로그 + SHA-256 해시 체인 + OpenTelemetry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0760" y="960120"/>
            <a:ext cx="2743200" cy="3154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1024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11패턴 — 탐지율 99.9%+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1335024"/>
            <a:ext cx="246888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주민등록번호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계좌번호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카드번호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휴대전화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이메일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여권번호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운전면허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IP 주소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사번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비밀번호 필드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JWT 토큰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418795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17920" y="42428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블록리스트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4462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20개 도메인 + 6개 URL 패턴 차단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사이트 자동 비활성화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설계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  ·  Side Panel UI  ·  Popup  ·  Context Menu  ·  Omnibox  ·  컴포넌트 재사용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화면 설계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UI 서피스 + 디자인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1051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인터페이스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399032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320~600px 가변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접근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탭: 채팅·리서치·데이터·설정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0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51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퀵 액션 런처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73168" y="1399032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400×600px 고정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퀵 액션 그리드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요약·번역·질문·데이터·스크린샷·커스텀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08376"/>
            <a:ext cx="411480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99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Menu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0998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우클릭 즉시 분석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3447288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네이티브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3-depth 구조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텍스트·이미지·테이블·링크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008376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08376"/>
            <a:ext cx="41148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099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Omnibox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30998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주소창 명령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3447288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 + Space/Tab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자동완성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검색·데이터·히스토리·MARS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화면 설계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 탭 구조 + 디자인 토큰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45720" cy="749808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대화 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채팅 · 스트리밍 응답 · 컨텍스트 유지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프롬프트 추천 · 인라인 코드 블록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10512"/>
            <a:ext cx="45720" cy="749808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리서치 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6단계 진행 상태 · Checkpoint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소스 목록 · 보고서 다운로드 Excel/PDF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33472"/>
            <a:ext cx="45720" cy="7498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91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데이터 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DataFrame 시각화 · JSON/CSV/Excel 내보내기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컬럼 타입 자동 추론 · 대용량 청크 스트리밍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45643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56432"/>
            <a:ext cx="4572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021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히스토리 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날짜/키워드 검색 필터 · 즐겨찾기 · 내보내기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427939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279392"/>
            <a:ext cx="45720" cy="749808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2511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설정 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553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기본 설정 · PII 민감도 · 단축키 · 캐시 삭제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960120"/>
            <a:ext cx="3291840" cy="4041648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0241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디자인 토큰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13350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--ext-bg-primary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98080" y="1335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 / #1a1a2e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69280" y="1719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--ext-accent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17190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#2563eb / #3b82f6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--ext-success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98080" y="21031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#10b981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69280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--ext-warning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98080" y="24871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#f59e0b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69280" y="28712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--ext-error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98080" y="28712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#ef4444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69280" y="32552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98080" y="325526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Pretendard + JetBrains Mono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6928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9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498080" y="36393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8px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로드맵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 타임라인  ·  Sprint 0 Go/No-Go  ·  팀 구성 13명  ·  예산 집행  ·  품질 게이트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구현 로드맵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로드맵: 30주 5단계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95274" cy="47548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" y="1033272"/>
            <a:ext cx="52212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— 기술검증 PoC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5314" y="1005840"/>
            <a:ext cx="2296058" cy="475488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1890" y="1033272"/>
            <a:ext cx="22229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MVP Core Extension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11373" y="1005840"/>
            <a:ext cx="2296058" cy="475488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7949" y="1033272"/>
            <a:ext cx="22229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에이전트·자동화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507431" y="1005840"/>
            <a:ext cx="2296058" cy="4754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4007" y="1033272"/>
            <a:ext cx="22229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엔터프라이즈·확장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803490" y="1005840"/>
            <a:ext cx="1020470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0066" y="1033272"/>
            <a:ext cx="9473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— GA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16459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1719072"/>
            <a:ext cx="1645920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" y="22567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664208"/>
            <a:ext cx="16459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719072"/>
            <a:ext cx="1645920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11680" y="22567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664208"/>
            <a:ext cx="16459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1719072"/>
            <a:ext cx="1645920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49040" y="22567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유저스토리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664208"/>
            <a:ext cx="16459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719072"/>
            <a:ext cx="1645920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 SP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22567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스토리포인트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664208"/>
            <a:ext cx="1645920" cy="987552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1719072"/>
            <a:ext cx="1645920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23760" y="22567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규모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16352"/>
          <a:ext cx="8503920" cy="2057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005840"/>
                <a:gridCol w="4754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예산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핵심 목표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Sprint 0 기술검증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2주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$37.4K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42 태스크 · 7개 Go/No-Go 판정 기준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Phase 1 기반 구축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8주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$186.8K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RLS · 감사로그 · Smart DOM · CDP+Stealth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Phase 2 핵심 기능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8주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$150.7K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MARS 6단계 · DataFrame · Dynamic Model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Phase 3 통합 최적화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8주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$134.2K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Multi-tenant · Self-Healing · 성능 최적화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Phase 4 GA 릴리스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4주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$136.4K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Canary 5%→25%→100% · OWASP · GA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투자: $645.5K  |  인건비 $573.5K (88.8%)  +  LLM $36K  +  인프라 $26K  +  도구 $10K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구현 로드맵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Go/No-Go 판정 + 13인 팀 구성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5303520" cy="3035808"/>
        </p:xfrm>
        <a:graphic>
          <a:graphicData uri="http://schemas.openxmlformats.org/drawingml/2006/table">
            <a:tbl>
              <a:tblPr/>
              <a:tblGrid>
                <a:gridCol w="411480"/>
                <a:gridCol w="1645920"/>
                <a:gridCol w="1828800"/>
                <a:gridCol w="1417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판정 항목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Go 기준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No-Go 대응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Readability.js 정확도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주요 사이트 5개 중 4개+ 성공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대안 라이브러리 평가 (Turndown)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SAP Fiori DOM 접근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sap-ui-content 주요 컴포넌트 추출 가능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SAP API 직접 연동 전환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PII 11패턴 검출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Precision 95%+, Recall 90%+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패턴 축소 + ML 기반 보완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MARS 비용 검증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$0.30/세션 이하 시뮬레이션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모델 다운그레이드 + 캐싱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PRISM CI Gate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22개 항목 중 Critical 0건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아키텍처 수정 후 재심사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MV3 Side Panel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기본 UI + Content Script 통신 정상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Popup 폴백 전략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성능 기준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DOM 추출 &lt; 2초, 메모리 &lt; 100MB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Worker 오프로딩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87552"/>
            <a:ext cx="3017520" cy="3035808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42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13인 팀 구성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353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90688" y="1353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6550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엔지니어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90688" y="1655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19568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엔지니어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90688" y="1956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2258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엔지니어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90688" y="2258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2명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Infra/DevOps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90688" y="2560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862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엔지니어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90688" y="2862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유지보수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90688" y="31638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2명</a:t>
            </a:r>
            <a:endParaRPr lang="en-US" sz="11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6052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4663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전환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커버리지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에러율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추가 조건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Sprint 0 → P1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60%+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Go/No-Go 7개 통과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P1 → P2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70%+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&lt; 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PII 11패턴 검증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P2 → P3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80%+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&lt; 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MARS $0.27 확인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P3 → GA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85%+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&lt; 0.5%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OWASP Top 10 통과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320040" y="51206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 커버리지 목표: 전체 85%+ | L2·L3: 90%+ | L4: 85%+ | 테스트 9,350+개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및 의사결정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· ARR · 4중 경쟁 해자 · 리스크 매트릭스 · 성공 기준 · 즉시 실행 권고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투자 및 의사결정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분석 + ARR 성장 로드맵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3838183"/>
            <a:ext cx="1737360" cy="75449"/>
          </a:xfrm>
          <a:prstGeom prst="rect">
            <a:avLst/>
          </a:prstGeom>
          <a:solidFill>
            <a:srgbClr val="5A9AFF">
              <a:alpha val="85000"/>
            </a:srgbClr>
          </a:solidFill>
          <a:ln w="12700">
            <a:solidFill>
              <a:srgbClr val="5A9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45575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950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70048" y="3541222"/>
            <a:ext cx="1737360" cy="372410"/>
          </a:xfrm>
          <a:prstGeom prst="rect">
            <a:avLst/>
          </a:prstGeom>
          <a:solidFill>
            <a:srgbClr val="00E5C0">
              <a:alpha val="85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324861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$1.54M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0048" y="3950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82896" y="2549740"/>
            <a:ext cx="1737360" cy="1363892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22571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$5.64M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82896" y="3950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95744" y="987552"/>
            <a:ext cx="1737360" cy="2926080"/>
          </a:xfrm>
          <a:prstGeom prst="rect">
            <a:avLst/>
          </a:prstGeom>
          <a:solidFill>
            <a:srgbClr val="F0C040">
              <a:alpha val="85000"/>
            </a:srgbClr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6949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95744" y="39502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8503920" cy="0"/>
          </a:xfrm>
          <a:prstGeom prst="line">
            <a:avLst/>
          </a:prstGeom>
          <a:noFill/>
          <a:ln w="10160">
            <a:solidFill>
              <a:srgbClr val="1E2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960120"/>
            <a:ext cx="3017520" cy="283464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0241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비용 절감 $550K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1353312"/>
            <a:ext cx="914400" cy="274320"/>
          </a:xfrm>
          <a:prstGeom prst="rect">
            <a:avLst/>
          </a:prstGeom>
          <a:solidFill>
            <a:srgbClr val="3D7FFF">
              <a:alpha val="28000"/>
            </a:srgbClr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371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리서치 효율화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66760" y="13716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810512"/>
            <a:ext cx="914400" cy="274320"/>
          </a:xfrm>
          <a:prstGeom prst="rect">
            <a:avLst/>
          </a:prstGeom>
          <a:solidFill>
            <a:srgbClr val="00E5C0">
              <a:alpha val="28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헬프데스크 자동화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66760" y="18288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267712"/>
            <a:ext cx="914400" cy="274320"/>
          </a:xfrm>
          <a:prstGeom prst="rect">
            <a:avLst/>
          </a:prstGeom>
          <a:solidFill>
            <a:srgbClr val="FF7C45">
              <a:alpha val="28000"/>
            </a:srgbClr>
          </a:solidFill>
          <a:ln w="12700">
            <a:solidFill>
              <a:srgbClr val="FF7C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860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인시던트 복구 단축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66760" y="22860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724912"/>
            <a:ext cx="914400" cy="274320"/>
          </a:xfrm>
          <a:prstGeom prst="rect">
            <a:avLst/>
          </a:prstGeom>
          <a:solidFill>
            <a:srgbClr val="FFB347">
              <a:alpha val="28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입력 자동화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66760" y="27432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377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12~14개월  ·  3년 ROI 220~270%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95604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ARPU: $13(6M) → $16(12M) → $19(18M) → $20(24M)  |  Enterprise 60% · Pro 25% · Basic 8% · 애드온 7%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투자 및 의사결정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4중 경쟁 해자 (Competitive Moat)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82296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 브라우저 네이티브 통합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장벽 제로 · 컨텍스트 실시간 캡처 · Chrome 관리 정책 활용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12161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3개월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64008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적응형 에이전트 생태계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멀티에이전트 · 행동 기반 최적화 · 에이전트 마켓플레이스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21762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18개월+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64008" cy="8229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3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사내 시스템 딥통합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· Jira · SAP 딥통합 · SSO/RBAC 완전 지원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31363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12개월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64008" cy="82296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136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데이터 주권 아키텍처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온프레미스/VPC 배포 · 국내 데이터 상주 · 완전 감사 로그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40965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6개월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800600"/>
            <a:ext cx="8503920" cy="256032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해자 레이어가 쌓일수록 네트워크 효과 → 사용자↑ → 에이전트 학습 데이터↑ → 품질↑ → 더 많은 사용자 선순환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투자 및 의사결정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매트릭스 (9개 항목)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406908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확률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대응 전략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560"/>
                          </a:solidFill>
                        </a:rPr>
                        <a:t>★ SPA/Shadow DOM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waitForDOMStable() · SAP PoC 선행 필수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560"/>
                          </a:solidFill>
                        </a:rPr>
                        <a:t>★ AI 환각 (Hallucination)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Citation 필수 · HITL Gate · 정확도 92%+ KPI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C45"/>
                          </a:solidFill>
                        </a:rPr>
                        <a:t>★ MARS 비용 초과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$0.27 검증 · 동적 모델 다운그레이드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7C45"/>
                          </a:solidFill>
                        </a:rPr>
                        <a:t>★ Multi-tenant 격리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Row-Level Security · 계열사별 OPA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7C45"/>
                          </a:solidFill>
                        </a:rPr>
                        <a:t>LLM API 비용 급등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멀티모델 라우팅 · 캐싱 60%↓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C896"/>
                          </a:solidFill>
                        </a:rPr>
                        <a:t>데이터 유출/보안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매우높음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Zero Trust · PII 11패턴 마스킹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B347"/>
                          </a:solidFill>
                        </a:rPr>
                        <a:t>경쟁사 진입 (Copilot)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사내 딥통합 · 데이터 주권 해자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B347"/>
                          </a:solidFill>
                        </a:rPr>
                        <a:t>핵심 인력 이탈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RSU · Bus Factor 3+ · 지식 문서화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E5C0"/>
                          </a:solidFill>
                        </a:rPr>
                        <a:t>Chrome 정책 변경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MV3 준수 · Edge 호환 준비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50932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Sprint 0 착수 전 반드시 검증 필요 — 미완 시 Sprint 0 연기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투자 및 의사결정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기준: 6개월 / 12개월 / 24개월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6개월 (Beta)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12개월 (GA)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24개월 (Scale)★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좌석 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2,000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8,000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50,000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DAU/MAU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55%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65%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70%+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NPS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55+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자동화율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30%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50%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60%+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ARR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$312K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$1.54M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$12.1M★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비용 절감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$138K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$550K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$1,650K 누적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도입 계열사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16+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Active Extension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1,100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5,200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35,000+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Extension 설치율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80%+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92%+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95%+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AF0"/>
                          </a:solidFill>
                        </a:rPr>
                        <a:t>응답 정확도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85%+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90%+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E5C0"/>
                          </a:solidFill>
                        </a:rPr>
                        <a:t>92%+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 목표: 현대차그룹 16개 계열사 전체 확산 + 외부 대기업 PoC 착수 + ARR $10M+ 도달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실행 권고 4항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is the New 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Extension이 엔터프라이즈 AI Agent의 최적 실행 환경입니다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46504"/>
            <a:ext cx="1783080" cy="454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$645.5K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196389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61488" y="16916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61488" y="1746504"/>
            <a:ext cx="1783080" cy="454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61488" y="2196389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746504"/>
            <a:ext cx="1783080" cy="454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12-14개월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2196389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38544" y="16916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38544" y="1746504"/>
            <a:ext cx="1783080" cy="454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38544" y="2196389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 ARR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51760"/>
            <a:ext cx="425196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2491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SAP Fiori PoC (2일)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298094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Script DOM 접근 검증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탐색 waitForDOMStable()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착수 전 필수 — 실패 시 플랜 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265176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651760"/>
            <a:ext cx="425196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72491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MARS 비용 시뮬레이션 (1일)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2896" y="298094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세션 $0.27 검증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$45K → 167K 세션 → 사용자당 3.3회/일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다운그레이드 시나리오 준비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03320"/>
            <a:ext cx="425196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7647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hchat-pwa 관계 정의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403250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병행 (Extension=데스크톱, PWA=모바일)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Extension Only (PWA 중단)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Extension 우선, PWA 경량 뷰어 전환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370332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703320"/>
            <a:ext cx="42519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77647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Multi-tenant 아키텍처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403250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16개 계열사 동시 서비스 격리 설계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+ OPA Policy Engine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계열사별 LLM 모델 할당 · 비용 분리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727448"/>
            <a:ext cx="8412480" cy="310896"/>
          </a:xfrm>
          <a:prstGeom prst="rect">
            <a:avLst/>
          </a:prstGeom>
          <a:solidFill>
            <a:srgbClr val="FF4560"/>
          </a:solidFill>
          <a:ln w="635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782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착수 전 4항 완료 필수 — 미완 시 Sprint 0 연기  |  현대오토에버 · AI 플랫폼팀 · 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핵심 수치를 한 눈에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1498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$645.5K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 개발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1498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12-14M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 기준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4904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1498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20574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 ARR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2423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그룹사 확대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01498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20574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절감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병목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2376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1498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20574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단축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프로세스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98094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74320" y="40233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3891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11680" y="298094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011680" y="40233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43891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기준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4904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298094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220-270%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749040" y="40233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49040" y="43891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대비 수익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298094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486400" y="40233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3891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정책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22376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2980944"/>
            <a:ext cx="16642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9,350+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223760" y="402336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4389120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 85%+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크롬 확장프로그램 기반 H Chat 기획서</dc:title>
  <dc:subject>PptxGenJS Presentation</dc:subject>
  <dc:creator>현대오토에버 AI 플랫폼팀</dc:creator>
  <cp:lastModifiedBy>현대오토에버 AI 플랫폼팀</cp:lastModifiedBy>
  <cp:revision>1</cp:revision>
  <dcterms:created xsi:type="dcterms:W3CDTF">2026-03-15T10:44:24Z</dcterms:created>
  <dcterms:modified xsi:type="dcterms:W3CDTF">2026-03-15T10:44:24Z</dcterms:modified>
</cp:coreProperties>
</file>