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(USD)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716-2D4C-A297-2B2F21B58FC2}"/>
              </c:ext>
            </c:extLst>
          </c:dPt>
          <c:dPt>
            <c:idx val="1"/>
            <c:invertIfNegative val="0"/>
            <c:bubble3D val="0"/>
            <c:spPr>
              <a:solidFill>
                <a:srgbClr val="1D5E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716-2D4C-A297-2B2F21B58FC2}"/>
              </c:ext>
            </c:extLst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716-2D4C-A297-2B2F21B58FC2}"/>
              </c:ext>
            </c:extLst>
          </c:dPt>
          <c:dPt>
            <c:idx val="3"/>
            <c:invertIfNegative val="0"/>
            <c:bubble3D val="0"/>
            <c:spPr>
              <a:solidFill>
                <a:srgbClr val="00E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716-2D4C-A297-2B2F21B58FC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6개월</c:v>
                </c:pt>
                <c:pt idx="1">
                  <c:v>12개월</c:v>
                </c:pt>
                <c:pt idx="2">
                  <c:v>18개월</c:v>
                </c:pt>
                <c:pt idx="3">
                  <c:v>24개월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312000</c:v>
                </c:pt>
                <c:pt idx="1">
                  <c:v>1540000</c:v>
                </c:pt>
                <c:pt idx="2">
                  <c:v>5640000</c:v>
                </c:pt>
                <c:pt idx="3">
                  <c:v>12100000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716-2D4C-A297-2B2F21B58F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5264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3474720"/>
            <a:ext cx="9144000" cy="1645920"/>
          </a:xfrm>
          <a:prstGeom prst="rect">
            <a:avLst/>
          </a:prstGeom>
          <a:solidFill>
            <a:srgbClr val="3D7FFF">
              <a:alpha val="10000"/>
            </a:srgbClr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/ 내부용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Chat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Browser OS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현대차그룹 사내 전용 Chrome Extension AI 플랫폼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3D7FFF">
              <a:alpha val="20000"/>
            </a:srgbClr>
          </a:solidFill>
          <a:ln w="635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Extension MV3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42032" y="2926080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FF4560">
              <a:alpha val="20000"/>
            </a:srgbClr>
          </a:solidFill>
          <a:ln w="635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542032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26864" y="2926080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00C896">
              <a:alpha val="20000"/>
            </a:srgbClr>
          </a:solidFill>
          <a:ln w="635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26864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Multi-Agent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11696" y="2926080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A855F7">
              <a:alpha val="20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711696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Multi-Model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0" y="3401568"/>
            <a:ext cx="9144000" cy="1143000"/>
          </a:xfrm>
          <a:prstGeom prst="rect">
            <a:avLst/>
          </a:prstGeom>
          <a:solidFill>
            <a:srgbClr val="050B18"/>
          </a:solidFill>
          <a:ln w="12700">
            <a:solidFill>
              <a:srgbClr val="050B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" y="35021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645K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02920" y="393192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투자 (USD)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203704" y="35021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30주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203704" y="393192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기간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904488" y="35021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12.1M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904488" y="393192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목표 (USD)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605272" y="35021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12개월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605272" y="393192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306056" y="35021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306056" y="393192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설치율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7200" y="45902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현대오토에버  ·  AI 플랫폼팀  ·  2026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Extension Only — 전략적 결정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24912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6350">
            <a:solidFill>
              <a:srgbClr val="3D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5720" cy="1920240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024128"/>
            <a:ext cx="411480" cy="411480"/>
          </a:xfrm>
          <a:prstGeom prst="ellipse">
            <a:avLst/>
          </a:prstGeom>
          <a:solidFill>
            <a:srgbClr val="3D7FFF">
              <a:alpha val="40000"/>
            </a:srgbClr>
          </a:solidFill>
          <a:ln w="635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0241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0515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 장벽 제로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508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ExtensionInstallForcelist로 5만+ 임직원 자동 배포. 앱스토어 다운로드/URL 접속 불필요. 관리자 1회 설정으로 전사 배포 완료.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18688" y="914400"/>
            <a:ext cx="2724912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6350">
            <a:solidFill>
              <a:srgbClr val="00E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218688" y="914400"/>
            <a:ext cx="45720" cy="1920240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355848" y="1024128"/>
            <a:ext cx="411480" cy="411480"/>
          </a:xfrm>
          <a:prstGeom prst="ellipse">
            <a:avLst/>
          </a:prstGeom>
          <a:solidFill>
            <a:srgbClr val="00E5C0">
              <a:alpha val="40000"/>
            </a:srgbClr>
          </a:solidFill>
          <a:ln w="6350">
            <a:solidFill>
              <a:srgbClr val="00E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355848" y="10241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58768" y="10515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네이티브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55848" y="1508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Script로 현재 탭 DOM 직접 접근. Confluence·Jira·SAP 컨텍스트 자동 인식. 탭 전환 및 복사·붙여넣기 불필요.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71616" y="914400"/>
            <a:ext cx="2724912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6350">
            <a:solidFill>
              <a:srgbClr val="FFB3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071616" y="914400"/>
            <a:ext cx="45720" cy="192024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208776" y="1024128"/>
            <a:ext cx="411480" cy="411480"/>
          </a:xfrm>
          <a:prstGeom prst="ellipse">
            <a:avLst/>
          </a:prstGeom>
          <a:solidFill>
            <a:srgbClr val="FFB347">
              <a:alpha val="40000"/>
            </a:srgbClr>
          </a:solidFill>
          <a:ln w="635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208776" y="10241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11696" y="10515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엔터프라이즈 관리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08776" y="1508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Admin Console 중앙 통합 관리. Group Policy로 배포·제거 방지 설정. CWS 자동 업데이트 보장.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999232"/>
            <a:ext cx="2011680" cy="1444752"/>
          </a:xfrm>
          <a:prstGeom prst="roundRect">
            <a:avLst>
              <a:gd name="adj" fmla="val 5063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65760" y="3072384"/>
            <a:ext cx="2011680" cy="794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30주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65760" y="38371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기간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23744" y="2999232"/>
            <a:ext cx="2011680" cy="1444752"/>
          </a:xfrm>
          <a:prstGeom prst="roundRect">
            <a:avLst>
              <a:gd name="adj" fmla="val 5063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523744" y="3072384"/>
            <a:ext cx="2011680" cy="794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$645K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523744" y="38371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투자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81728" y="2999232"/>
            <a:ext cx="2011680" cy="1444752"/>
          </a:xfrm>
          <a:prstGeom prst="roundRect">
            <a:avLst>
              <a:gd name="adj" fmla="val 5063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681728" y="3072384"/>
            <a:ext cx="2011680" cy="794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12개월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681728" y="38371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39712" y="2999232"/>
            <a:ext cx="2011680" cy="1444752"/>
          </a:xfrm>
          <a:prstGeom prst="roundRect">
            <a:avLst>
              <a:gd name="adj" fmla="val 5063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839712" y="3072384"/>
            <a:ext cx="2011680" cy="794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$12.1M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839712" y="38371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ARR목표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전략 개요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정의: 4대 업무 비효율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6350">
            <a:solidFill>
              <a:srgbClr val="FF45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5720" cy="3474720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사용 시스템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8912" y="1828800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분절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121408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Confluence·Jira·SAP·Teams·ERP 등 시스템 간 정보 단절로 업무 흐름 끊김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23744" y="96012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6350">
            <a:solidFill>
              <a:srgbClr val="FF7C4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523744" y="960120"/>
            <a:ext cx="45720" cy="3474720"/>
          </a:xfrm>
          <a:prstGeom prst="rect">
            <a:avLst/>
          </a:prstGeom>
          <a:solidFill>
            <a:srgbClr val="FF7C45"/>
          </a:solidFill>
          <a:ln w="12700">
            <a:solidFill>
              <a:srgbClr val="FF7C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523744" y="1005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23분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523744" y="15544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 정보 평균 소요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96896" y="1828800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과부하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96896" y="2121408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결과 60~70%가 노이즈 — 핵심 정보 도달까지 과도한 시간 낭비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81728" y="96012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6350">
            <a:solidFill>
              <a:srgbClr val="FFB3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681728" y="960120"/>
            <a:ext cx="45720" cy="34747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681728" y="1005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8-12h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681728" y="15544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주당 반복 업무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0" y="1828800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업무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121408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보고서·데이터 수집·비교 분석 등 단순 반복에 핵심 인력 낭비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39712" y="96012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635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839712" y="960120"/>
            <a:ext cx="45720" cy="3474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839712" y="1005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839712" y="15544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기업이 보안을 최대 장벽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912864" y="1828800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유출 리스크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12864" y="2121408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퍼블릭 AI에 사내 데이터 입력 시 유출 위험 — 규제 준수 불가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전략 개요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비전: "브라우저가 곧 업무 환경"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28016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6350">
            <a:solidFill>
              <a:srgbClr val="3D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임직원 업무 시간의 90% 이상이 Chrome 브라우저에서 이루어집니다.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Chat은 Chrome Side Panel 단일 접점에서 모든 시스템을 AI로 통합합니다.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브라우저를 떠나지 않고, Side Panel AI와 자연어로 대화하며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탐색 → 분석 → 의사결정 → 실행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54864" cy="320040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800600" y="2331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Panel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00600" y="25146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UI, 상시 접근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2752344"/>
            <a:ext cx="54864" cy="3200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800600" y="27523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Menu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00600" y="293522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우클릭 즉시 분석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3172968"/>
            <a:ext cx="54864" cy="32004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00600" y="317296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335584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퀵 액션 런처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3593592"/>
            <a:ext cx="54864" cy="320040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00600" y="359359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Omnibox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377647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주소창 hc 키워드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전략 개요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기회: AI 브라우저 $4.2B → $18.5B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12801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시장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2025E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2027E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CAGR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글로벌 AI 브라우저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$4.2B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$7.8B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$18.5B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E5C0"/>
                          </a:solidFill>
                        </a:rPr>
                        <a:t>48.2%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엔터프라이즈 AI SW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$62B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$98B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$210B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E5C0"/>
                          </a:solidFill>
                        </a:rPr>
                        <a:t>35.7%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한국 기업 AI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$3.1B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$5.2B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$11.8B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E5C0"/>
                          </a:solidFill>
                        </a:rPr>
                        <a:t>39.4%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365760" y="2377440"/>
            <a:ext cx="2724912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6350">
            <a:solidFill>
              <a:srgbClr val="3D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365760" y="2377440"/>
            <a:ext cx="45720" cy="2103120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02920" y="242316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AI 도입률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26334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02920" y="32004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업무 통합 단 19% — 52%p 갭 공략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18688" y="2377440"/>
            <a:ext cx="2724912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6350">
            <a:solidFill>
              <a:srgbClr val="FF45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3218688" y="2377440"/>
            <a:ext cx="45720" cy="2103120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3355848" y="242316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도입 장벽 1위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355848" y="26334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3355848" y="32004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보안 우려 — Zero Trust로 해소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071616" y="2377440"/>
            <a:ext cx="2724912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6350">
            <a:solidFill>
              <a:srgbClr val="00C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6071616" y="2377440"/>
            <a:ext cx="45720" cy="2103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208776" y="242316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Chat 독점 영역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08776" y="26334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5만+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6208776" y="32004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현대차그룹 즉시 타겟 → 그룹사 13만명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전략 개요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 포지셔닝 — H Chat 독점 영역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7680960" cy="35204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차원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ChatGPT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Perplexity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Arc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eesel AI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★ H Chat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8892B0"/>
                          </a:solidFill>
                        </a:rPr>
                        <a:t>데이터 주권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옵트아웃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제한적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없음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부분적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E5C0"/>
                          </a:solidFill>
                        </a:rPr>
                        <a:t>Zero Trust ✓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8892B0"/>
                          </a:solidFill>
                        </a:rPr>
                        <a:t>사내 시스템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API 필요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불가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불가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Wiki만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E5C0"/>
                          </a:solidFill>
                        </a:rPr>
                        <a:t>직접 접근 ✓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8892B0"/>
                          </a:solidFill>
                        </a:rPr>
                        <a:t>배포 방식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앱스토어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앱스토어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앱스토어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웹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E5C0"/>
                          </a:solidFill>
                        </a:rPr>
                        <a:t>Forcelist 95%+ ✓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8892B0"/>
                          </a:solidFill>
                        </a:rPr>
                        <a:t>에이전트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중간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중간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낮음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낮음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E5C0"/>
                          </a:solidFill>
                        </a:rPr>
                        <a:t>MARS 자율 ✓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8892B0"/>
                          </a:solidFill>
                        </a:rPr>
                        <a:t>비용/작업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~$1.00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~$0.80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N/A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$0.50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E5C0"/>
                          </a:solidFill>
                        </a:rPr>
                        <a:t>$0.12 ✓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8892B0"/>
                          </a:solidFill>
                        </a:rPr>
                        <a:t>한국어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부분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부분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미지원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EAF0"/>
                          </a:solidFill>
                        </a:rPr>
                        <a:t>미지원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E5C0"/>
                          </a:solidFill>
                        </a:rPr>
                        <a:t>완전 지원 ✓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52628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Chat은 보안(Zero Trust) + 자율성(MARS) + 비용($0.12) 3개 축 모두에서 압도적 우위를 보유합니다.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전략 개요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 페르소나: 4유형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 w="6350">
            <a:solidFill>
              <a:srgbClr val="F0C04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1051560"/>
            <a:ext cx="548640" cy="548640"/>
          </a:xfrm>
          <a:prstGeom prst="ellipse">
            <a:avLst/>
          </a:prstGeom>
          <a:solidFill>
            <a:srgbClr val="F0C040">
              <a:alpha val="25000"/>
            </a:srgbClr>
          </a:solidFill>
          <a:ln w="1016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경영진 김 상무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645920" cy="246888"/>
          </a:xfrm>
          <a:prstGeom prst="roundRect">
            <a:avLst>
              <a:gd name="adj" fmla="val 18519"/>
            </a:avLst>
          </a:prstGeom>
          <a:solidFill>
            <a:srgbClr val="F0C040">
              <a:alpha val="25000"/>
            </a:srgbClr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의사결정 50% 단축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 3일 → 30분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 현황 자동 분석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3744" y="96012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 w="6350">
            <a:solidFill>
              <a:srgbClr val="00C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548640" cy="548640"/>
          </a:xfrm>
          <a:prstGeom prst="ellipse">
            <a:avLst/>
          </a:prstGeom>
          <a:solidFill>
            <a:srgbClr val="00C896">
              <a:alpha val="25000"/>
            </a:srgbClr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523744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박 팀장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06624" y="2011680"/>
            <a:ext cx="1645920" cy="246888"/>
          </a:xfrm>
          <a:prstGeom prst="roundRect">
            <a:avLst>
              <a:gd name="adj" fmla="val 18519"/>
            </a:avLst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706624" y="201168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주간보고 3h → 20분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15184" y="233172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 감지 2배 향상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성과 통합 관리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81728" y="96012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 w="6350">
            <a:solidFill>
              <a:srgbClr val="FF7C4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413248" y="1051560"/>
            <a:ext cx="548640" cy="548640"/>
          </a:xfrm>
          <a:prstGeom prst="ellipse">
            <a:avLst/>
          </a:prstGeom>
          <a:solidFill>
            <a:srgbClr val="FF7C45">
              <a:alpha val="25000"/>
            </a:srgbClr>
          </a:solidFill>
          <a:ln w="10160">
            <a:solidFill>
              <a:srgbClr val="FF7C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681728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지식노동자 이 대리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64608" y="2011680"/>
            <a:ext cx="1645920" cy="246888"/>
          </a:xfrm>
          <a:prstGeom prst="roundRect">
            <a:avLst>
              <a:gd name="adj" fmla="val 18519"/>
            </a:avLst>
          </a:prstGeom>
          <a:solidFill>
            <a:srgbClr val="FF7C45">
              <a:alpha val="25000"/>
            </a:srgbClr>
          </a:solidFill>
          <a:ln w="12700">
            <a:solidFill>
              <a:srgbClr val="FF7C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64608" y="201168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리서치 60% 절감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73168" y="233172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수집 3배 향상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통합 검색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39712" y="96012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 w="6350">
            <a:solidFill>
              <a:srgbClr val="3D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571232" y="1051560"/>
            <a:ext cx="548640" cy="548640"/>
          </a:xfrm>
          <a:prstGeom prst="ellipse">
            <a:avLst/>
          </a:prstGeom>
          <a:solidFill>
            <a:srgbClr val="3D7FFF">
              <a:alpha val="25000"/>
            </a:srgbClr>
          </a:solidFill>
          <a:ln w="1016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839712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엔지니어 최 과장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022592" y="2011680"/>
            <a:ext cx="1645920" cy="246888"/>
          </a:xfrm>
          <a:prstGeom prst="roundRect">
            <a:avLst>
              <a:gd name="adj" fmla="val 18519"/>
            </a:avLst>
          </a:prstGeom>
          <a:solidFill>
            <a:srgbClr val="3D7FFF">
              <a:alpha val="25000"/>
            </a:srgbClr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022592" y="201168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보안검증 6개월→2주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31152" y="233172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공수 70% 절감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심의 단축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452628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타겟: 현대차그룹 5만+명 (1차) → 그룹사 13만명 (2차)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전략 개요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가치 제안: 3가지 결정적 차별점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24912" cy="2331720"/>
          </a:xfrm>
          <a:prstGeom prst="roundRect">
            <a:avLst>
              <a:gd name="adj" fmla="val 3137"/>
            </a:avLst>
          </a:prstGeom>
          <a:solidFill>
            <a:srgbClr val="0F172A"/>
          </a:solidFill>
          <a:ln w="6350">
            <a:solidFill>
              <a:srgbClr val="3D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24912" cy="54864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0241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시스템 네이티브 접근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Script로 Confluence / Jira / SAP 직접 접근. API 연동 없이 현재 열린 페이지의 데이터를 실시간으로 읽고 분석.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18688" y="914400"/>
            <a:ext cx="2724912" cy="2331720"/>
          </a:xfrm>
          <a:prstGeom prst="roundRect">
            <a:avLst>
              <a:gd name="adj" fmla="val 3137"/>
            </a:avLst>
          </a:prstGeom>
          <a:solidFill>
            <a:srgbClr val="0F172A"/>
          </a:solidFill>
          <a:ln w="6350">
            <a:solidFill>
              <a:srgbClr val="00C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18688" y="914400"/>
            <a:ext cx="2724912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55848" y="10241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지능형 아키텍처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55848" y="137160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DOM → DataFrame → MARS 수직 통합. DOM 파싱부터 에이전트 실행까지 단일 파이프라인으로 최적화.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71616" y="914400"/>
            <a:ext cx="2724912" cy="2331720"/>
          </a:xfrm>
          <a:prstGeom prst="roundRect">
            <a:avLst>
              <a:gd name="adj" fmla="val 3137"/>
            </a:avLst>
          </a:prstGeom>
          <a:solidFill>
            <a:srgbClr val="0F172A"/>
          </a:solidFill>
          <a:ln w="6350">
            <a:solidFill>
              <a:srgbClr val="FF7C4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071616" y="914400"/>
            <a:ext cx="2724912" cy="54864"/>
          </a:xfrm>
          <a:prstGeom prst="rect">
            <a:avLst/>
          </a:prstGeom>
          <a:solidFill>
            <a:srgbClr val="FF7C45"/>
          </a:solidFill>
          <a:ln w="12700">
            <a:solidFill>
              <a:srgbClr val="FF7C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208776" y="10241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데이터 주권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08776" y="137160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데이터가 외부 AI 서버를 경유하지 않음. 온프레미스 LLM + 프록시 아키텍처로 데이터 주권 완전 보장.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364992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65760" y="3438144"/>
            <a:ext cx="2011680" cy="593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65760" y="3990807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탐색 단축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23744" y="3364992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523744" y="3438144"/>
            <a:ext cx="2011680" cy="593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523744" y="3990807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 작성 단축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81728" y="3364992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681728" y="3438144"/>
            <a:ext cx="2011680" cy="593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681728" y="3990807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생산성 향상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39712" y="3364992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839712" y="3438144"/>
            <a:ext cx="2011680" cy="593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839712" y="3990807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컴플라이언스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제품 &amp; 기술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개요: Chrome Extension Only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4114800" cy="21945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서비스명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 Chat AI Browser OS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형태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Chrome Extension (MV3)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배포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Chrome Web Store (사내 비공개)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설치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Admin Console 강제 설치 (Forcelist)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타겟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현대차그룹 5만+ 임직원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960120"/>
            <a:ext cx="4114800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800600" y="1005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서피스 4종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800600" y="1325880"/>
            <a:ext cx="45720" cy="274320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919472" y="132588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Panel</a:t>
            </a:r>
            <a:endParaRPr lang="en-US" sz="950" dirty="0"/>
          </a:p>
        </p:txBody>
      </p:sp>
      <p:sp>
        <p:nvSpPr>
          <p:cNvPr id="5" name="Text 7"/>
          <p:cNvSpPr/>
          <p:nvPr/>
        </p:nvSpPr>
        <p:spPr>
          <a:xfrm>
            <a:off x="4919472" y="149047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UI, 채팅/리서치/데이터/감사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800600" y="1737360"/>
            <a:ext cx="45720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919472" y="173736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Popup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919472" y="190195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퀵 액션 런처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800600" y="2148840"/>
            <a:ext cx="45720" cy="2743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4919472" y="214884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Menu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19472" y="231343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우클릭 즉시 분석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800600" y="2560320"/>
            <a:ext cx="45720" cy="274320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4919472" y="256032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Omnibox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919472" y="272491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주소창 hchat 키워드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65760" y="329184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548640" y="3429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Forcelist 배포: 관리자 1회 설정으로 그룹사 전체 자동 설치 · 사용자 제거 불가 · 자동 업데이트 보장 → 설치율 95%+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48640" y="39319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플라이휠:  사용 → 개인화 → 의존도↑ → Switching Cost 기하급수적 증가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제품 &amp; 기술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지능형 기술 스택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6350">
            <a:solidFill>
              <a:srgbClr val="FF45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36576" cy="868680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102412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" y="1014984"/>
            <a:ext cx="402336" cy="274320"/>
          </a:xfrm>
          <a:prstGeom prst="ellipse">
            <a:avLst/>
          </a:prstGeom>
          <a:solidFill>
            <a:srgbClr val="FF4560">
              <a:alpha val="25000"/>
            </a:srgbClr>
          </a:solidFill>
          <a:ln w="635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10241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Research 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225296"/>
            <a:ext cx="7772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+ CrewAI 기반 6종 에이전트 자율 연구 파이프라인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→ Search → Web → Data → Analysis → Report  |  $0.27/세션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947672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6350">
            <a:solidFill>
              <a:srgbClr val="FF7C4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65760" y="1947672"/>
            <a:ext cx="36576" cy="868680"/>
          </a:xfrm>
          <a:prstGeom prst="rect">
            <a:avLst/>
          </a:prstGeom>
          <a:solidFill>
            <a:srgbClr val="FF7C45"/>
          </a:solidFill>
          <a:ln w="12700">
            <a:solidFill>
              <a:srgbClr val="FF7C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5488" y="198424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056" y="1975104"/>
            <a:ext cx="402336" cy="274320"/>
          </a:xfrm>
          <a:prstGeom prst="ellipse">
            <a:avLst/>
          </a:prstGeom>
          <a:solidFill>
            <a:srgbClr val="FF7C45">
              <a:alpha val="25000"/>
            </a:srgbClr>
          </a:solidFill>
          <a:ln w="6350">
            <a:solidFill>
              <a:srgbClr val="FF7C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14400" y="19842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DataFrame Engine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185416"/>
            <a:ext cx="7772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테이블 → JSON/CSV/XLSX 자동 변환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테이블 감지율 95%  ·  1,000행 3초 이내  ·  Web Worker 병렬 처리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907792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6350">
            <a:solidFill>
              <a:srgbClr val="00E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2907792"/>
            <a:ext cx="36576" cy="868680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94436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8056" y="2935224"/>
            <a:ext cx="402336" cy="274320"/>
          </a:xfrm>
          <a:prstGeom prst="ellipse">
            <a:avLst/>
          </a:prstGeom>
          <a:solidFill>
            <a:srgbClr val="00E5C0">
              <a:alpha val="25000"/>
            </a:srgbClr>
          </a:solidFill>
          <a:ln w="6350">
            <a:solidFill>
              <a:srgbClr val="00E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14400" y="294436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DOM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145536"/>
            <a:ext cx="7772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Readability.js + RQFP로 웹 노이즈 60~70% 제거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추출 정확도 90%+  ·  2초 이내 처리  ·  Shadow DOM / SAP Fiori 지원  |  $0.12/작업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867912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6350">
            <a:solidFill>
              <a:srgbClr val="3D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65760" y="3867912"/>
            <a:ext cx="36576" cy="868680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75488" y="390448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8056" y="3895344"/>
            <a:ext cx="402336" cy="274320"/>
          </a:xfrm>
          <a:prstGeom prst="ellipse">
            <a:avLst/>
          </a:prstGeom>
          <a:solidFill>
            <a:srgbClr val="3D7FFF">
              <a:alpha val="25000"/>
            </a:srgbClr>
          </a:solidFill>
          <a:ln w="635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14400" y="390448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Extension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105656"/>
            <a:ext cx="7772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SW + Content Script + Side Panel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봇 탐지 우회  ·  세션 충실도  ·  Omnibox 통합  ·  Chrome MV3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4736592"/>
            <a:ext cx="1965960" cy="228600"/>
          </a:xfrm>
          <a:prstGeom prst="roundRect">
            <a:avLst>
              <a:gd name="adj" fmla="val 20000"/>
            </a:avLst>
          </a:prstGeom>
          <a:solidFill>
            <a:srgbClr val="3D7FFF">
              <a:alpha val="18000"/>
            </a:srgbClr>
          </a:solidFill>
          <a:ln w="635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65760" y="47365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Multi-Model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23744" y="4736592"/>
            <a:ext cx="1965960" cy="228600"/>
          </a:xfrm>
          <a:prstGeom prst="roundRect">
            <a:avLst>
              <a:gd name="adj" fmla="val 20000"/>
            </a:avLst>
          </a:prstGeom>
          <a:solidFill>
            <a:srgbClr val="00C896">
              <a:alpha val="18000"/>
            </a:srgbClr>
          </a:solidFill>
          <a:ln w="635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2523744" y="47365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81728" y="4736592"/>
            <a:ext cx="1965960" cy="228600"/>
          </a:xfrm>
          <a:prstGeom prst="roundRect">
            <a:avLst>
              <a:gd name="adj" fmla="val 20000"/>
            </a:avLst>
          </a:prstGeom>
          <a:solidFill>
            <a:srgbClr val="FF7C45">
              <a:alpha val="18000"/>
            </a:srgbClr>
          </a:solidFill>
          <a:ln w="6350">
            <a:solidFill>
              <a:srgbClr val="FF7C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681728" y="47365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39712" y="4736592"/>
            <a:ext cx="1965960" cy="228600"/>
          </a:xfrm>
          <a:prstGeom prst="roundRect">
            <a:avLst>
              <a:gd name="adj" fmla="val 20000"/>
            </a:avLst>
          </a:prstGeom>
          <a:solidFill>
            <a:srgbClr val="FF4560">
              <a:alpha val="18000"/>
            </a:srgbClr>
          </a:solidFill>
          <a:ln w="635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839712" y="47365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Security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제품 &amp; 기술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16개 (P0 / P1 / P2)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724912" cy="3931920"/>
          </a:xfrm>
          <a:prstGeom prst="roundRect">
            <a:avLst>
              <a:gd name="adj" fmla="val 2685"/>
            </a:avLst>
          </a:prstGeom>
          <a:solidFill>
            <a:srgbClr val="0F172A"/>
          </a:solidFill>
          <a:ln w="6350">
            <a:solidFill>
              <a:srgbClr val="FF45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724912" cy="45720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10241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— Foundation (Phase 1)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1371600"/>
            <a:ext cx="2487168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F01 Side Panel Agent UI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F02 Smart DOM 추출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F03 컨텍스트 메뉴 분석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F04 SSE 스트리밍 응답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F09 PII 마스킹 &amp; 보안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18688" y="960120"/>
            <a:ext cx="2724912" cy="3931920"/>
          </a:xfrm>
          <a:prstGeom prst="roundRect">
            <a:avLst>
              <a:gd name="adj" fmla="val 2685"/>
            </a:avLst>
          </a:prstGeom>
          <a:solidFill>
            <a:srgbClr val="0F172A"/>
          </a:solidFill>
          <a:ln w="6350">
            <a:solidFill>
              <a:srgbClr val="FF7C4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18688" y="960120"/>
            <a:ext cx="2724912" cy="45720"/>
          </a:xfrm>
          <a:prstGeom prst="rect">
            <a:avLst/>
          </a:prstGeom>
          <a:solidFill>
            <a:srgbClr val="FF7C45"/>
          </a:solidFill>
          <a:ln w="12700">
            <a:solidFill>
              <a:srgbClr val="FF7C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28416" y="10241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Core Value (Phase 2)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28416" y="1371600"/>
            <a:ext cx="2487168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F05 DataFrame 자동 변환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F06 Dynamic Multi-Model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F07 MARS 리서치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F08 에이전틱 브라우징 RPA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F10 HITL 승인 체계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F14 감사 로그 대시보드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F15 봇 탐지 우회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F16 Omnibox 통합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71616" y="960120"/>
            <a:ext cx="2724912" cy="3931920"/>
          </a:xfrm>
          <a:prstGeom prst="roundRect">
            <a:avLst>
              <a:gd name="adj" fmla="val 2685"/>
            </a:avLst>
          </a:prstGeom>
          <a:solidFill>
            <a:srgbClr val="0F172A"/>
          </a:solidFill>
          <a:ln w="6350">
            <a:solidFill>
              <a:srgbClr val="3D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071616" y="960120"/>
            <a:ext cx="2724912" cy="45720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181344" y="10241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— Enhancement (Phase 3)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181344" y="1371600"/>
            <a:ext cx="2487168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F11 Self-Healing 자가 복구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F12 시맨틱 DOM 시각화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F13 오프라인 큐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크리티컬 패스: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F01→F04→F06→F07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F02→F05→F07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제품 &amp; 기술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UX 시나리오 5선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265176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시나리오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트리거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소요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개선율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웹페이지 즉석 요약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Omnibox: hchat 요약해줘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3~5초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E5C0"/>
                          </a:solidFill>
                        </a:rPr>
                        <a:t>87%↓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경쟁사 조사 자동화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Side Panel 리서치 요청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8~12분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E5C0"/>
                          </a:solidFill>
                        </a:rPr>
                        <a:t>MARS 6단계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Jira 티켓 자동 분류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Context Menu → 티켓 분류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3~5분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E5C0"/>
                          </a:solidFill>
                        </a:rPr>
                        <a:t>90%↓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회의록 액션 아이템 추출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Popup → 액션 추출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1~2분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E5C0"/>
                          </a:solidFill>
                        </a:rPr>
                        <a:t>자동화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SAP 재고 → Excel 변환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Context Menu → 데이터 추출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1~3분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E5C0"/>
                          </a:solidFill>
                        </a:rPr>
                        <a:t>95%↓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74904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6350">
            <a:solidFill>
              <a:srgbClr val="3D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48640" y="40050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시나리오가 Chrome Extension 내에서 완결 — 별도 앱 전환 불필요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제품 &amp; 기술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보안 아키텍처 — 6계층 방어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486400" cy="585216"/>
          </a:xfrm>
          <a:prstGeom prst="rect">
            <a:avLst/>
          </a:prstGeom>
          <a:solidFill>
            <a:srgbClr val="3D7FFF">
              <a:alpha val="10000"/>
            </a:srgbClr>
          </a:solidFill>
          <a:ln w="3810">
            <a:solidFill>
              <a:srgbClr val="3D7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" cy="347472"/>
          </a:xfrm>
          <a:prstGeom prst="ellipse">
            <a:avLst/>
          </a:prstGeom>
          <a:solidFill>
            <a:srgbClr val="3D7FFF">
              <a:alpha val="50000"/>
            </a:srgbClr>
          </a:solidFill>
          <a:ln w="635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0332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CSP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123444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script-src 'self' 선언, eval 차단, 외부 스크립트 완전 차단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618488"/>
            <a:ext cx="5486400" cy="585216"/>
          </a:xfrm>
          <a:prstGeom prst="rect">
            <a:avLst/>
          </a:prstGeom>
          <a:solidFill>
            <a:srgbClr val="3D7FFF">
              <a:alpha val="22000"/>
            </a:srgbClr>
          </a:solidFill>
          <a:ln w="3810">
            <a:solidFill>
              <a:srgbClr val="3D7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664208"/>
            <a:ext cx="411480" cy="347472"/>
          </a:xfrm>
          <a:prstGeom prst="ellipse">
            <a:avLst/>
          </a:prstGeom>
          <a:solidFill>
            <a:srgbClr val="3D7FFF">
              <a:alpha val="50000"/>
            </a:srgbClr>
          </a:solidFill>
          <a:ln w="635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166420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6916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Security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189280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+ TLS 1.3 + CORS Allowlist 적용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276856"/>
            <a:ext cx="5486400" cy="585216"/>
          </a:xfrm>
          <a:prstGeom prst="rect">
            <a:avLst/>
          </a:prstGeom>
          <a:solidFill>
            <a:srgbClr val="3D7FFF">
              <a:alpha val="34000"/>
            </a:srgbClr>
          </a:solidFill>
          <a:ln w="3810">
            <a:solidFill>
              <a:srgbClr val="3D7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2322576"/>
            <a:ext cx="411480" cy="347472"/>
          </a:xfrm>
          <a:prstGeom prst="ellipse">
            <a:avLst/>
          </a:prstGeom>
          <a:solidFill>
            <a:srgbClr val="3D7FFF">
              <a:alpha val="50000"/>
            </a:srgbClr>
          </a:solidFill>
          <a:ln w="635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32257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3500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60120" y="255117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HMAC-SHA256 JWT + TOTP 2FA 이중 인증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2935224"/>
            <a:ext cx="5486400" cy="585216"/>
          </a:xfrm>
          <a:prstGeom prst="rect">
            <a:avLst/>
          </a:prstGeom>
          <a:solidFill>
            <a:srgbClr val="3D7FFF">
              <a:alpha val="46000"/>
            </a:srgbClr>
          </a:solidFill>
          <a:ln w="3810">
            <a:solidFill>
              <a:srgbClr val="3D7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57200" y="2980944"/>
            <a:ext cx="411480" cy="347472"/>
          </a:xfrm>
          <a:prstGeom prst="ellipse">
            <a:avLst/>
          </a:prstGeom>
          <a:solidFill>
            <a:srgbClr val="3D7FFF">
              <a:alpha val="50000"/>
            </a:srgbClr>
          </a:solidFill>
          <a:ln w="635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" y="298094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0083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0120" y="320954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 Policy Engine + RBAC 역할 기반 접근 제어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3593592"/>
            <a:ext cx="5486400" cy="585216"/>
          </a:xfrm>
          <a:prstGeom prst="rect">
            <a:avLst/>
          </a:prstGeom>
          <a:solidFill>
            <a:srgbClr val="3D7FFF">
              <a:alpha val="58000"/>
            </a:srgbClr>
          </a:solidFill>
          <a:ln w="3810">
            <a:solidFill>
              <a:srgbClr val="3D7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3639312"/>
            <a:ext cx="411480" cy="347472"/>
          </a:xfrm>
          <a:prstGeom prst="ellipse">
            <a:avLst/>
          </a:prstGeom>
          <a:solidFill>
            <a:srgbClr val="3D7FFF">
              <a:alpha val="50000"/>
            </a:srgbClr>
          </a:solidFill>
          <a:ln w="635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" y="363931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6667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Protection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60120" y="38679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11패턴 마스킹 + AES-256-GCM 암호화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4251960"/>
            <a:ext cx="5486400" cy="585216"/>
          </a:xfrm>
          <a:prstGeom prst="rect">
            <a:avLst/>
          </a:prstGeom>
          <a:solidFill>
            <a:srgbClr val="3D7FFF">
              <a:alpha val="70000"/>
            </a:srgbClr>
          </a:solidFill>
          <a:ln w="3810">
            <a:solidFill>
              <a:srgbClr val="3D7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57200" y="4297680"/>
            <a:ext cx="411480" cy="347472"/>
          </a:xfrm>
          <a:prstGeom prst="ellipse">
            <a:avLst/>
          </a:prstGeom>
          <a:solidFill>
            <a:srgbClr val="3D7FFF">
              <a:alpha val="50000"/>
            </a:srgbClr>
          </a:solidFill>
          <a:ln w="635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57200" y="429768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43251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60120" y="452628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불변 감사 로그 + SHA-256 해시 체인 + OpenTelemetry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035040" y="960120"/>
            <a:ext cx="2743200" cy="2331720"/>
          </a:xfrm>
          <a:prstGeom prst="roundRect">
            <a:avLst>
              <a:gd name="adj" fmla="val 3137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172200" y="102412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11패턴 처리 단계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17920" y="12984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Content Script 전처리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17920" y="160934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Background SW 블록리스트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17920" y="19202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서버 Zod 검증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17920" y="223113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LLM 전송 전 스크러빙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17920" y="25420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응답 후처리 재탐지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17920" y="285292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AES-256-GCM 암호화 저장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035040" y="3364992"/>
            <a:ext cx="2743200" cy="1527048"/>
          </a:xfrm>
          <a:prstGeom prst="roundRect">
            <a:avLst>
              <a:gd name="adj" fmla="val 4790"/>
            </a:avLst>
          </a:prstGeom>
          <a:solidFill>
            <a:srgbClr val="0F172A"/>
          </a:solidFill>
          <a:ln w="6350">
            <a:solidFill>
              <a:srgbClr val="FF45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172200" y="3429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블록리스트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72200" y="368503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20개 도메인 + 6개 URL 패턴 차단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 사이트 자동 비활성화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탐지율:  99.9%+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제품 &amp; 기술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인프라 스택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724912" cy="3246120"/>
          </a:xfrm>
          <a:prstGeom prst="roundRect">
            <a:avLst>
              <a:gd name="adj" fmla="val 2685"/>
            </a:avLst>
          </a:prstGeom>
          <a:solidFill>
            <a:srgbClr val="0F172A"/>
          </a:solidFill>
          <a:ln w="6350">
            <a:solidFill>
              <a:srgbClr val="3D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724912" cy="45720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10241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(유일한 프론트엔드)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1353312"/>
            <a:ext cx="248716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MV3 Service Worker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 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4 + Vite 7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Readability.js + SheetJS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IndexedDB (idb)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18688" y="960120"/>
            <a:ext cx="2724912" cy="3246120"/>
          </a:xfrm>
          <a:prstGeom prst="roundRect">
            <a:avLst>
              <a:gd name="adj" fmla="val 2685"/>
            </a:avLst>
          </a:prstGeom>
          <a:solidFill>
            <a:srgbClr val="0F172A"/>
          </a:solidFill>
          <a:ln w="6350">
            <a:solidFill>
              <a:srgbClr val="00C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18688" y="960120"/>
            <a:ext cx="2724912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28416" y="10241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Data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28416" y="1353312"/>
            <a:ext cx="248716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 + FastAPI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0.2 + CrewAI 0.5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+ pgvector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7 (Streams + Pub/Sub)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API Gateway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71616" y="960120"/>
            <a:ext cx="2724912" cy="3246120"/>
          </a:xfrm>
          <a:prstGeom prst="roundRect">
            <a:avLst>
              <a:gd name="adj" fmla="val 2685"/>
            </a:avLst>
          </a:prstGeom>
          <a:solidFill>
            <a:srgbClr val="0F172A"/>
          </a:solidFill>
          <a:ln w="6350">
            <a:solidFill>
              <a:srgbClr val="FF7C4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071616" y="960120"/>
            <a:ext cx="2724912" cy="45720"/>
          </a:xfrm>
          <a:prstGeom prst="rect">
            <a:avLst/>
          </a:prstGeom>
          <a:solidFill>
            <a:srgbClr val="FF7C45"/>
          </a:solidFill>
          <a:ln w="12700">
            <a:solidFill>
              <a:srgbClr val="FF7C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181344" y="10241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보안 + 관측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181344" y="1353312"/>
            <a:ext cx="248716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4.6 (복잡 추론)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5.2 / Gemini 2.5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Grok 3 / Nano Banana (경량)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 0.63 + HashiCorp Vault 1.16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 + Sentry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4343400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44622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배포:  Chrome Web Store (Extension)  →  Docker Compose (Backend)  →  GitHub Actions (CI/CD)  →  OPA + Vault (보안)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제품 &amp; 기술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비기능 요구사항 — 핵심 지표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4114800" cy="2285997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Extension 성능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목표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번들 크기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E5C0"/>
                          </a:solidFill>
                        </a:rPr>
                        <a:t>&lt; 5MB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Side Panel 로드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E5C0"/>
                          </a:solidFill>
                        </a:rPr>
                        <a:t>&lt; 1,000ms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Popup 로드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E5C0"/>
                          </a:solidFill>
                        </a:rPr>
                        <a:t>&lt; 300ms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Content Script 주입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E5C0"/>
                          </a:solidFill>
                        </a:rPr>
                        <a:t>&lt; 100ms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메모리 사용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E5C0"/>
                          </a:solidFill>
                        </a:rPr>
                        <a:t>&lt; 100MB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TTFT (첫 토큰)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E5C0"/>
                          </a:solidFill>
                        </a:rPr>
                        <a:t>&lt; 800ms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960120"/>
          <a:ext cx="4114800" cy="2285997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시스템 운영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목표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SLA (가용성)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E5C0"/>
                          </a:solidFill>
                        </a:rPr>
                        <a:t>99.9%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RTO (복구 시간)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E5C0"/>
                          </a:solidFill>
                        </a:rPr>
                        <a:t>&lt; 15분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RPO (복구 시점)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E5C0"/>
                          </a:solidFill>
                        </a:rPr>
                        <a:t>&lt; 5분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동시 RPS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E5C0"/>
                          </a:solidFill>
                        </a:rPr>
                        <a:t>500 sustained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WebSocket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E5C0"/>
                          </a:solidFill>
                        </a:rPr>
                        <a:t>10,000 동시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스트리밍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E5C0"/>
                          </a:solidFill>
                        </a:rPr>
                        <a:t>&gt; 30 tokens/sec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364992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/>
          <p:nvPr/>
        </p:nvSpPr>
        <p:spPr>
          <a:xfrm>
            <a:off x="365760" y="3438144"/>
            <a:ext cx="2011680" cy="593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$0.12/작업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365760" y="3990807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DOM 비용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523744" y="3364992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2523744" y="3438144"/>
            <a:ext cx="2011680" cy="593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$0.27/세션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2523744" y="3990807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파이프라인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681728" y="3364992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4681728" y="3438144"/>
            <a:ext cx="2011680" cy="593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120초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4681728" y="3990807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전체 세션</a:t>
            </a:r>
            <a:endParaRPr lang="en-US" sz="900" dirty="0"/>
          </a:p>
        </p:txBody>
      </p:sp>
      <p:sp>
        <p:nvSpPr>
          <p:cNvPr id="5" name="Shape 12"/>
          <p:cNvSpPr/>
          <p:nvPr/>
        </p:nvSpPr>
        <p:spPr>
          <a:xfrm>
            <a:off x="6839712" y="3364992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6839712" y="3438144"/>
            <a:ext cx="2011680" cy="593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85%+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6839712" y="3990807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커버리지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제품 &amp; 기술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개발 핵심 주의사항 4가지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297680" cy="1938528"/>
          </a:xfrm>
          <a:prstGeom prst="roundRect">
            <a:avLst>
              <a:gd name="adj" fmla="val 3774"/>
            </a:avLst>
          </a:prstGeom>
          <a:solidFill>
            <a:srgbClr val="111827"/>
          </a:solidFill>
          <a:ln w="6350">
            <a:solidFill>
              <a:srgbClr val="FF45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5720" cy="1938528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297680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30352" y="1051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Race Condition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362456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SPA/Shadow DOM에서 waitForDOMStable() 필수.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MutationObserver로 변경 감지 후 100ms 안정화 대기.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Fiori, Jira Cloud 등 SPA 사이트 대응 필수.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28032" y="960120"/>
            <a:ext cx="4297680" cy="1938528"/>
          </a:xfrm>
          <a:prstGeom prst="roundRect">
            <a:avLst>
              <a:gd name="adj" fmla="val 3774"/>
            </a:avLst>
          </a:prstGeom>
          <a:solidFill>
            <a:srgbClr val="111827"/>
          </a:solidFill>
          <a:ln w="6350">
            <a:solidFill>
              <a:srgbClr val="FF7C4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828032" y="960120"/>
            <a:ext cx="45720" cy="1938528"/>
          </a:xfrm>
          <a:prstGeom prst="rect">
            <a:avLst/>
          </a:prstGeom>
          <a:solidFill>
            <a:srgbClr val="FF7C45"/>
          </a:solidFill>
          <a:ln w="12700">
            <a:solidFill>
              <a:srgbClr val="FF7C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828032" y="960120"/>
            <a:ext cx="4297680" cy="36576"/>
          </a:xfrm>
          <a:prstGeom prst="rect">
            <a:avLst/>
          </a:prstGeom>
          <a:solidFill>
            <a:srgbClr val="FF7C45"/>
          </a:solidFill>
          <a:ln w="12700">
            <a:solidFill>
              <a:srgbClr val="FF7C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92624" y="1051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키 Two-Phase 삭제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92624" y="1362456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제거 시 API 키 즉시 무효화 불가.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onSuspend에서 서버 무효화 요청.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서버 측 24h TTL 만료로 이중 안전장치.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044952"/>
            <a:ext cx="4297680" cy="1938528"/>
          </a:xfrm>
          <a:prstGeom prst="roundRect">
            <a:avLst>
              <a:gd name="adj" fmla="val 3774"/>
            </a:avLst>
          </a:prstGeom>
          <a:solidFill>
            <a:srgbClr val="111827"/>
          </a:solidFill>
          <a:ln w="6350">
            <a:solidFill>
              <a:srgbClr val="3D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65760" y="3044952"/>
            <a:ext cx="45720" cy="1938528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3044952"/>
            <a:ext cx="4297680" cy="36576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30352" y="3136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Reflow 최소화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3447288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getBoundingClientRect() 호출 배치 처리 필수.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Script에서 DOM 읽기/쓰기 분리.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IntersectionObserver 우선 사용 → Layout Thrashing 방지.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28032" y="3044952"/>
            <a:ext cx="4297680" cy="1938528"/>
          </a:xfrm>
          <a:prstGeom prst="roundRect">
            <a:avLst>
              <a:gd name="adj" fmla="val 3774"/>
            </a:avLst>
          </a:prstGeom>
          <a:solidFill>
            <a:srgbClr val="111827"/>
          </a:solidFill>
          <a:ln w="6350">
            <a:solidFill>
              <a:srgbClr val="00C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828032" y="3044952"/>
            <a:ext cx="45720" cy="19385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828032" y="3044952"/>
            <a:ext cx="429768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992624" y="3136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AbortController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92624" y="3447288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스트리밍 중 취소/탭 전환 시 AbortController.abort() 필수.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SW↔Side Panel SSE 연결 라이프사이클 명시 관리.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미처리 시 메모리 누수 / 좀비 연결 발생.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비즈니스 모델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모델 캔버스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172A"/>
          </a:solidFill>
          <a:ln w="6350">
            <a:solidFill>
              <a:srgbClr val="3D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651760" cy="36576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103327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파트너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252728"/>
            <a:ext cx="251460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현대오토에버 (인프라)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/ Anthropic (LLM)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Chrome (Extension)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IT 부서 (배포)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3063240" y="960120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0F172A"/>
          </a:solidFill>
          <a:ln w="6350">
            <a:solidFill>
              <a:srgbClr val="00E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063240" y="960120"/>
            <a:ext cx="3017520" cy="36576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154680" y="1033272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활동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154680" y="1252728"/>
            <a:ext cx="288036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개발/유지보수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라우팅 최적화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정책 관리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성공 관리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172A"/>
          </a:solidFill>
          <a:ln w="6350">
            <a:solidFill>
              <a:srgbClr val="00C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217920" y="960120"/>
            <a:ext cx="265176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309360" y="103327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가치 제안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09360" y="1252728"/>
            <a:ext cx="251460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이탈 없는 AI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보안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$0.12/작업 비용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자율 리서치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274320" y="26060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6350">
            <a:solidFill>
              <a:srgbClr val="FFB3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74320" y="2606040"/>
            <a:ext cx="2651760" cy="36576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65760" y="267919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자원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2898648"/>
            <a:ext cx="25146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코드베이스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Agent 파이프라인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인프라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계약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3063240" y="2606040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6350">
            <a:solidFill>
              <a:srgbClr val="FF7C4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063240" y="2606040"/>
            <a:ext cx="3017520" cy="36576"/>
          </a:xfrm>
          <a:prstGeom prst="rect">
            <a:avLst/>
          </a:prstGeom>
          <a:solidFill>
            <a:srgbClr val="FF7C45"/>
          </a:solidFill>
          <a:ln w="12700">
            <a:solidFill>
              <a:srgbClr val="FF7C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154680" y="2679192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154680" y="2898648"/>
            <a:ext cx="28803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CWS 비공개 배포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Console 관리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Forcelist 일괄 배포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6217920" y="26060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635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217920" y="2606040"/>
            <a:ext cx="265176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309360" y="267919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관계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9360" y="2898648"/>
            <a:ext cx="25146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Console 셀프서비스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전담 CSM (Enterprise)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챔피언 프로그램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274320" y="416052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6350">
            <a:solidFill>
              <a:srgbClr val="FF45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74320" y="4160520"/>
            <a:ext cx="4114800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65760" y="423367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구조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5760" y="445312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40% · 인프라 20% · 인건비 30% · 마케팅 10%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4617720" y="4160520"/>
            <a:ext cx="4251960" cy="658368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6350">
            <a:solidFill>
              <a:srgbClr val="F0C04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617720" y="4160520"/>
            <a:ext cx="4251960" cy="3657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709160" y="423367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 흐름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09160" y="445312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좌석 구독 $8~30/월 · 엔터프라이즈 계약 · 프리미엄 에이전트 애드온</a:t>
            </a:r>
            <a:endParaRPr lang="en-US" sz="7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비즈니스 모델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가격 정책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24912" cy="3931920"/>
          </a:xfrm>
          <a:prstGeom prst="roundRect">
            <a:avLst>
              <a:gd name="adj" fmla="val 2685"/>
            </a:avLst>
          </a:prstGeom>
          <a:solidFill>
            <a:srgbClr val="0F172A"/>
          </a:solidFill>
          <a:ln w="6350">
            <a:solidFill>
              <a:srgbClr val="00E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24912" cy="36576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987552"/>
            <a:ext cx="2724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2724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2029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25880" y="202996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개인/소규모팀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2331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쿼리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25880" y="23317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50회/일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26334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25880" y="263347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경량 모델 (GPT-4o-mini, Haiku)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" y="293522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25880" y="293522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CWS 수동 설치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" y="323697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25880" y="323697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" y="353872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25880" y="35387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커뮤니티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18688" y="914400"/>
            <a:ext cx="2724912" cy="3931920"/>
          </a:xfrm>
          <a:prstGeom prst="roundRect">
            <a:avLst>
              <a:gd name="adj" fmla="val 2685"/>
            </a:avLst>
          </a:prstGeom>
          <a:solidFill>
            <a:srgbClr val="0F172A"/>
          </a:solidFill>
          <a:ln w="6350">
            <a:solidFill>
              <a:srgbClr val="3D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218688" y="914400"/>
            <a:ext cx="2724912" cy="36576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218688" y="987552"/>
            <a:ext cx="2724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18688" y="128016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3218688" y="1783080"/>
            <a:ext cx="2724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28416" y="2029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78808" y="202996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부서 단위 도입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28416" y="2331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쿼리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178808" y="23317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200회/일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28416" y="26334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178808" y="263347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GPT-4o, Sonnet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28416" y="293522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78808" y="293522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Console 관리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28416" y="323697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178808" y="323697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28416" y="353872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178808" y="35387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 24h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071616" y="914400"/>
            <a:ext cx="2724912" cy="3931920"/>
          </a:xfrm>
          <a:prstGeom prst="roundRect">
            <a:avLst>
              <a:gd name="adj" fmla="val 2685"/>
            </a:avLst>
          </a:prstGeom>
          <a:solidFill>
            <a:srgbClr val="1E3A5F"/>
          </a:solidFill>
          <a:ln w="6350">
            <a:solidFill>
              <a:srgbClr val="F0C04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6071616" y="914400"/>
            <a:ext cx="2724912" cy="3657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071616" y="987552"/>
            <a:ext cx="2724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71616" y="128016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</a:t>
            </a:r>
            <a:endParaRPr lang="en-US" sz="4000" dirty="0"/>
          </a:p>
        </p:txBody>
      </p:sp>
      <p:sp>
        <p:nvSpPr>
          <p:cNvPr id="43" name="Text 41"/>
          <p:cNvSpPr/>
          <p:nvPr/>
        </p:nvSpPr>
        <p:spPr>
          <a:xfrm>
            <a:off x="6071616" y="1783080"/>
            <a:ext cx="2724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81344" y="2029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31736" y="202996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그룹사/대기업 (1,000석+)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81344" y="2331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쿼리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031736" y="23317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무제한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81344" y="26334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031736" y="263347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Opus, o3, 전체 19개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81344" y="293522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031736" y="293522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Forcelist 강제 배포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181344" y="323697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031736" y="323697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99.95%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181344" y="353872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031736" y="35387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전담 CSM 4h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 48x  ·  Payback Period &lt; 1개월  ·  Gross Margin 65%  ·  NRR 120%+ 목표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비즈니스 모델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성장 로드맵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60120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960120"/>
            <a:ext cx="3108960" cy="841248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 w="6350">
            <a:solidFill>
              <a:srgbClr val="5A9A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806440" y="1005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6개월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806440" y="12161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$312K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296912" y="1325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사용자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669280" y="1920240"/>
            <a:ext cx="3108960" cy="841248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 w="6350">
            <a:solidFill>
              <a:srgbClr val="00E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806440" y="19659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12개월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806440" y="21762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$1.54M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296912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8,000 사용자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669280" y="2880360"/>
            <a:ext cx="3108960" cy="841248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 w="6350">
            <a:solidFill>
              <a:srgbClr val="00C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806440" y="29260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18개월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806440" y="31363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$5.64M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296912" y="3246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25,000 사용자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669280" y="3840480"/>
            <a:ext cx="3108960" cy="841248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 w="6350">
            <a:solidFill>
              <a:srgbClr val="F0C04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806440" y="38862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24개월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806440" y="40965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$12.1M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7296912" y="4206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 사용자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65760" y="457200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ARPU: $13(6M) → $16(12M) → $19(18M) → $20(24M)  |  Enterprise 구독 60%  ·  Pro 25%  ·  Basic 8%  ·  애드온 7%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비즈니스 모델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절감 효과 — 연간 $550K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탐색 23분→3분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474720" y="1143000"/>
            <a:ext cx="4375404" cy="182880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474720" y="1143000"/>
            <a:ext cx="5029200" cy="182880"/>
          </a:xfrm>
          <a:prstGeom prst="rect">
            <a:avLst/>
          </a:prstGeom>
          <a:solidFill>
            <a:srgbClr val="FF4560">
              <a:alpha val="15000"/>
            </a:srgbClr>
          </a:solidFill>
          <a:ln w="3810">
            <a:solidFill>
              <a:srgbClr val="FF456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595360" y="111556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7556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 작성 5h→30m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0" y="1801368"/>
            <a:ext cx="4274820" cy="182880"/>
          </a:xfrm>
          <a:prstGeom prst="rect">
            <a:avLst/>
          </a:prstGeom>
          <a:solidFill>
            <a:srgbClr val="FF7C45"/>
          </a:solidFill>
          <a:ln w="12700">
            <a:solidFill>
              <a:srgbClr val="FF7C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474720" y="1801368"/>
            <a:ext cx="5029200" cy="182880"/>
          </a:xfrm>
          <a:prstGeom prst="rect">
            <a:avLst/>
          </a:prstGeom>
          <a:solidFill>
            <a:srgbClr val="FF7C45">
              <a:alpha val="15000"/>
            </a:srgbClr>
          </a:solidFill>
          <a:ln w="3810">
            <a:solidFill>
              <a:srgbClr val="FF7C4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595360" y="177393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4140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 4h→10m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0" y="2459736"/>
            <a:ext cx="4777740" cy="182880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474720" y="2459736"/>
            <a:ext cx="5029200" cy="182880"/>
          </a:xfrm>
          <a:prstGeom prst="rect">
            <a:avLst/>
          </a:prstGeom>
          <a:solidFill>
            <a:srgbClr val="3D7FFF">
              <a:alpha val="15000"/>
            </a:srgbClr>
          </a:solidFill>
          <a:ln w="3810">
            <a:solidFill>
              <a:srgbClr val="3D7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595360" y="24323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30723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티켓 분류 50m→5m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0" y="3118104"/>
            <a:ext cx="4526280" cy="182880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474720" y="3118104"/>
            <a:ext cx="5029200" cy="182880"/>
          </a:xfrm>
          <a:prstGeom prst="rect">
            <a:avLst/>
          </a:prstGeom>
          <a:solidFill>
            <a:srgbClr val="00E5C0">
              <a:alpha val="15000"/>
            </a:srgbClr>
          </a:solidFill>
          <a:ln w="3810">
            <a:solidFill>
              <a:srgbClr val="00E5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595360" y="309067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7307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헬프데스크 처리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0" y="3776472"/>
            <a:ext cx="4023360" cy="1828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474720" y="3776472"/>
            <a:ext cx="5029200" cy="182880"/>
          </a:xfrm>
          <a:prstGeom prst="rect">
            <a:avLst/>
          </a:prstGeom>
          <a:solidFill>
            <a:srgbClr val="A855F7">
              <a:alpha val="15000"/>
            </a:srgbClr>
          </a:solidFill>
          <a:ln w="3810">
            <a:solidFill>
              <a:srgbClr val="A855F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595360" y="37490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133088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65760" y="4206240"/>
            <a:ext cx="201168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$550K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65760" y="463692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비용 절감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23744" y="4133088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523744" y="4206240"/>
            <a:ext cx="201168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60%+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2523744" y="463692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자동화율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81728" y="4133088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681728" y="4206240"/>
            <a:ext cx="201168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5만+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681728" y="463692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 사용자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39712" y="4133088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839712" y="4206240"/>
            <a:ext cx="201168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839712" y="463692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ROI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비즈니스 모델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Go-To-Market: 3단계 전략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24912" cy="3931920"/>
          </a:xfrm>
          <a:prstGeom prst="roundRect">
            <a:avLst>
              <a:gd name="adj" fmla="val 2685"/>
            </a:avLst>
          </a:prstGeom>
          <a:solidFill>
            <a:srgbClr val="0F172A"/>
          </a:solidFill>
          <a:ln w="6350">
            <a:solidFill>
              <a:srgbClr val="FF45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24912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 (0~6개월)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727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43000" y="157276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오토에버 500명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23042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43000" y="230428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CWS 비공개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303580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" y="303580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 55%+, NPS 40+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$312K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37673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43000" y="37673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얼리 어답터 발굴 → 챔피언 5명 육성 → 유기적 확산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18688" y="914400"/>
            <a:ext cx="2724912" cy="3931920"/>
          </a:xfrm>
          <a:prstGeom prst="roundRect">
            <a:avLst>
              <a:gd name="adj" fmla="val 2685"/>
            </a:avLst>
          </a:prstGeom>
          <a:solidFill>
            <a:srgbClr val="0F172A"/>
          </a:solidFill>
          <a:ln w="6350">
            <a:solidFill>
              <a:srgbClr val="3D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218688" y="914400"/>
            <a:ext cx="2724912" cy="36576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218688" y="100584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 확산 (6~18개월)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28416" y="15727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995928" y="157276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16개 계열사 25,000석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28416" y="23042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995928" y="230428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Forcelist 전환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28416" y="303580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995928" y="303580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 60%+, NPS 45+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$5.64M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28416" y="37673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995928" y="37673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Forcelist 일괄 배포 + 부서별 온보딩 + 성공 사례 전파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71616" y="914400"/>
            <a:ext cx="2724912" cy="3931920"/>
          </a:xfrm>
          <a:prstGeom prst="roundRect">
            <a:avLst>
              <a:gd name="adj" fmla="val 2685"/>
            </a:avLst>
          </a:prstGeom>
          <a:solidFill>
            <a:srgbClr val="0F172A"/>
          </a:solidFill>
          <a:ln w="6350">
            <a:solidFill>
              <a:srgbClr val="F0C04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071616" y="914400"/>
            <a:ext cx="2724912" cy="3657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071616" y="100584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확장 (18~30개월)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81344" y="15727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48856" y="157276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대기업 50,000+석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81344" y="23042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48856" y="230428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엔터프라이즈 계약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81344" y="303580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48856" y="303580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NRR 120%+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$10M+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81344" y="37673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48856" y="37673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성공 사례 기반 영업 + 산업 특화 에이전트 애드온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127248" y="2880360"/>
            <a:ext cx="54864" cy="0"/>
          </a:xfrm>
          <a:prstGeom prst="line">
            <a:avLst/>
          </a:prstGeom>
          <a:noFill/>
          <a:ln w="19050">
            <a:solidFill>
              <a:srgbClr val="8892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2944368" y="2743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2B0"/>
                </a:solidFill>
              </a:rPr>
              <a:t>→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980176" y="2880360"/>
            <a:ext cx="54864" cy="0"/>
          </a:xfrm>
          <a:prstGeom prst="line">
            <a:avLst/>
          </a:prstGeom>
          <a:noFill/>
          <a:ln w="19050">
            <a:solidFill>
              <a:srgbClr val="8892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797296" y="2743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2B0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비즈니스 모델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목표 대시보드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987552"/>
            <a:ext cx="164592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497787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DAU/MAU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0" y="91440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011680" y="987552"/>
            <a:ext cx="164592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11680" y="1497787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91440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749040" y="987552"/>
            <a:ext cx="164592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749040" y="1497787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91440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0" y="987552"/>
            <a:ext cx="164592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86400" y="1497787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CWS 평점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23760" y="91440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223760" y="987552"/>
            <a:ext cx="164592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223760" y="1497787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57400"/>
          <a:ext cx="4114800" cy="1554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Extension 특화 KPI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목표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설치 유지율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E5C0"/>
                          </a:solidFill>
                        </a:rPr>
                        <a:t>95%+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일일 Active Extension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E5C0"/>
                          </a:solidFill>
                        </a:rPr>
                        <a:t>5,200+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Side Panel 로드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E5C0"/>
                          </a:solidFill>
                        </a:rPr>
                        <a:t>&lt; 800ms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057400"/>
          <a:ext cx="4114800" cy="1554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기술 KPI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목표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응답 정확도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E5C0"/>
                          </a:solidFill>
                        </a:rPr>
                        <a:t>92%+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에러율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E5C0"/>
                          </a:solidFill>
                        </a:rPr>
                        <a:t>&lt; 0.5%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배포 빈도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E5C0"/>
                          </a:solidFill>
                        </a:rPr>
                        <a:t>주 2회+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365760" y="374904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6350">
            <a:solidFill>
              <a:srgbClr val="3D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9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비용 절감 $550K  |  Break-even 12~14개월  |  3년 ROI 220~270%  |  24개월 ARR $12.1M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비즈니스 모델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4중 경쟁 해자 (Moat)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6350">
            <a:solidFill>
              <a:srgbClr val="3D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4008" cy="822960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03327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 브라우저 네이티브 통합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30759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 장벽 제로 · 컨텍스트 실시간 캡처 · Chrome 관리 정책 활용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0" y="12344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구축 기간: 3개월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6350">
            <a:solidFill>
              <a:srgbClr val="00C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64008" cy="8229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66928" y="199339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 적응형 에이전트 생태계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26771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멀티에이전트 · 행동 기반 최적화 · 에이전트 마켓플레이스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32320" y="21945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복제 난이도: 극히 높음 (18개월+)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6350">
            <a:solidFill>
              <a:srgbClr val="FFB3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64008" cy="82296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66928" y="2953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 사내 시스템 통합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32278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Confluence / Jira / SAP 딥통합 · SSO / RBAC 완전 지원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0" y="31546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복제 난이도: 매우 높음 (12개월)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6350">
            <a:solidFill>
              <a:srgbClr val="FF45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64008" cy="822960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66928" y="391363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 데이터 주권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418795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온프레미스 / VPC 배포 · 국내 데이터 상주 · 완전 감사 로그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0" y="41148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복제 난이도: 높음 (6개월)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4828032"/>
            <a:ext cx="8412480" cy="256032"/>
          </a:xfrm>
          <a:prstGeom prst="roundRect">
            <a:avLst>
              <a:gd name="adj" fmla="val 28571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48640" y="484632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해자 레이어가 쌓일수록 네트워크 효과 발생 — 사용자 증가 → 에이전트 학습 데이터 → 품질 향상 → 더 많은 사용자의 선순환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— 구현 계획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로드맵: 30주 5단계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88874" cy="502920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49743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0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— 환경·PoC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54634" y="1005840"/>
            <a:ext cx="2271370" cy="502920"/>
          </a:xfrm>
          <a:prstGeom prst="rect">
            <a:avLst/>
          </a:prstGeom>
          <a:solidFill>
            <a:srgbClr val="FF7C45"/>
          </a:solidFill>
          <a:ln w="12700">
            <a:solidFill>
              <a:srgbClr val="FF7C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0354" y="1051560"/>
            <a:ext cx="21799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8주 — MVP Core Extension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26003" y="1005840"/>
            <a:ext cx="2271370" cy="502920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271723" y="1051560"/>
            <a:ext cx="21799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8주 — 에이전트·자동화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497373" y="1005840"/>
            <a:ext cx="2271370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543093" y="1051560"/>
            <a:ext cx="21799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8주 — 엔터프라이즈·확장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768742" y="1005840"/>
            <a:ext cx="1009498" cy="5029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814462" y="1051560"/>
            <a:ext cx="9180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 — GA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16916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74320" y="1764792"/>
            <a:ext cx="164592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74320" y="2275027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스프린트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11680" y="16916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011680" y="1764792"/>
            <a:ext cx="164592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011680" y="2275027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에픽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49040" y="16916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749040" y="1764792"/>
            <a:ext cx="164592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59+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749040" y="2275027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유저스토리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0" y="16916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486400" y="1764792"/>
            <a:ext cx="164592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315 SP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486400" y="2275027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스토리포인트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23760" y="16916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223760" y="1764792"/>
            <a:ext cx="164592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13명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223760" y="2275027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규모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80360"/>
          <a:ext cx="8412480" cy="2011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기간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예산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핵심 목표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Sprint 0 기술검증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2주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B347"/>
                          </a:solidFill>
                        </a:rPr>
                        <a:t>$37.4K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42 태스크 · 7개 Go/No-Go 판정 기준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Phase 1 기반 구축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8주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B347"/>
                          </a:solidFill>
                        </a:rPr>
                        <a:t>$186.8K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RLS · 감사로그 · Smart DOM · CDP+Stealth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Phase 2 핵심 기능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8주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B347"/>
                          </a:solidFill>
                        </a:rPr>
                        <a:t>$150.7K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MARS 6단계 · DataFrame · Dynamic Model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Phase 3 통합 최적화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8주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B347"/>
                          </a:solidFill>
                        </a:rPr>
                        <a:t>$134.2K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Multi-tenant · Self-Healing · 성능 최적화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Phase 4 GA 릴리스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4주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B347"/>
                          </a:solidFill>
                        </a:rPr>
                        <a:t>$136.4K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Canary 5%→25%→100% · OWASP · GA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투자: $645.5K  |  인건비 $573.5K (88.8%)  +  LLM $36K  +  인프라 $26K  +  도구 $10K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— 구현 계획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마일스톤 &amp; Go/No-Go 판정 기준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27432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마일스톤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시점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Go 기준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No-Go 대응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4560"/>
                          </a:solidFill>
                        </a:rPr>
                        <a:t>M0 MVP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Day 14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Smart DOM + 단일 에이전트 데모 + 유스케이스 3개 시연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기술스택 재검토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7C45"/>
                          </a:solidFill>
                        </a:rPr>
                        <a:t>M1 Alpha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Week 10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NPS 35+ / 정확도 80%+ / CWS 게시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2주 집중 개선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D7FFF"/>
                          </a:solidFill>
                        </a:rPr>
                        <a:t>M2 Beta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Week 18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DAU 55% / 자동화 25%+ / 보안 감사 통과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GA 4주 연기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E5C0"/>
                          </a:solidFill>
                        </a:rPr>
                        <a:t>M3 P3 완료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Week 26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Multi-Model 라우팅 / Self-Healing 55%+ / Kill Switch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소프트 런치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0C040"/>
                          </a:solidFill>
                        </a:rPr>
                        <a:t>M4 GA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Week 30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SLA 99.9% / 부하 테스트 / NPS 45+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단계적 확산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84048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48640" y="391363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배포: 5% → 25% → 100% (자동 롤백 4가지 조건)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09160" y="39136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심사: OWASP + 에이전트 + 데이터주권 = 21개 체크리스트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416966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테스트: 9,350+ (단위 70% + 통합 20% + E2E 10%)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— 구현 계획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성공 기준: 6 / 12 / 24개월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9319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기준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6개월 (Beta)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12개월 (GA)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0C040"/>
                          </a:solidFill>
                        </a:rPr>
                        <a:t>24개월 (Scale)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좌석 수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2,000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8,000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0C040"/>
                          </a:solidFill>
                        </a:rPr>
                        <a:t>50,000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DAU / MAU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55%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65%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0C040"/>
                          </a:solidFill>
                        </a:rPr>
                        <a:t>70%+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NPS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0C040"/>
                          </a:solidFill>
                        </a:rPr>
                        <a:t>55+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자동화율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0C040"/>
                          </a:solidFill>
                        </a:rPr>
                        <a:t>60%+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$312K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$1.54M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0C040"/>
                          </a:solidFill>
                        </a:rPr>
                        <a:t>$12.1M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비용 절감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$138K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$550K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0C040"/>
                          </a:solidFill>
                        </a:rPr>
                        <a:t>$1,650K 누적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도입 계열사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5+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0C040"/>
                          </a:solidFill>
                        </a:rPr>
                        <a:t>16+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Active Extension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1,100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5,200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0C040"/>
                          </a:solidFill>
                        </a:rPr>
                        <a:t>35,000+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24개월 목표: 현대차그룹 16개 계열사 전체 확산 + 외부 대기업 PoC 착수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— 구현 계획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 매트릭스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406907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리스크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영향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확률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대응 전략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7C45"/>
                          </a:solidFill>
                        </a:rPr>
                        <a:t>LLM API 비용 급등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높음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중간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멀티모델 라우팅, 경량 모델 전환, 캐싱 60%↓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E5C0"/>
                          </a:solidFill>
                        </a:rPr>
                        <a:t>사용자 채택 저조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중간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낮음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강제 설치로 장벽 제거, 챔피언 프로그램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C896"/>
                          </a:solidFill>
                        </a:rPr>
                        <a:t>데이터 유출 / 보안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매우높음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낮음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소버린AI, Zero Trust, Blocklist, PII 마스킹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B347"/>
                          </a:solidFill>
                        </a:rPr>
                        <a:t>경쟁사 진입 (Copilot)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중간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높음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사내 딥통합(경쟁사 불가), 데이터 주권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55F7"/>
                          </a:solidFill>
                        </a:rPr>
                        <a:t>핵심 인력 이탈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높음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중간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RSU, Bus Factor 3+, 지식 문서화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E5C0"/>
                          </a:solidFill>
                        </a:rPr>
                        <a:t>Chrome 정책 변경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중간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낮음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MV3 최신 준수, Edge 호환 준비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4560"/>
                          </a:solidFill>
                        </a:rPr>
                        <a:t>★ SPA/Shadow DOM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높음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높음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waitForDOMStable(), MutationObserver, SAP PoC 선행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4560"/>
                          </a:solidFill>
                        </a:rPr>
                        <a:t>★ AI 환각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높음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높음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Citation 필수, HITL, 정확도 92%+ KPI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9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7C45"/>
                          </a:solidFill>
                        </a:rPr>
                        <a:t>★ MARS 비용 초과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중간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중간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$0.27 세션 검증, 동적 모델 다운그레이드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7C45"/>
                          </a:solidFill>
                        </a:rPr>
                        <a:t>★ Multi-tenant 격리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높음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중간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Row-Level Security, 계열사별 OPA 정책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09320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표시: Sprint 0 이전 반드시 검증 필요한 핵심 리스크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— 구현 계획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Extension 차별화 vs 앱 / PWA</a:t>
            </a:r>
            <a:endParaRPr lang="en-US" sz="2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246117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비교 요소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기존 접근 (앱 / PWA)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0C040"/>
                          </a:solidFill>
                        </a:rPr>
                        <a:t>Chrome Extension (H Chat)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설치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별도 다운로드 / URL 접속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E5C0"/>
                          </a:solidFill>
                        </a:rPr>
                        <a:t>관리자 강제 배포 (GPO) — 클릭 불필요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컨텍스트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앱 전환 필요, 복사-붙여넣기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E5C0"/>
                          </a:solidFill>
                        </a:rPr>
                        <a:t>현재 페이지 DOM 직접 읽기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접근성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별도 창/탭 필요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E5C0"/>
                          </a:solidFill>
                        </a:rPr>
                        <a:t>모든 탭에서 즉시 호출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관리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MDM 별도 구성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E5C0"/>
                          </a:solidFill>
                        </a:rPr>
                        <a:t>Chrome 정책으로 통합 관리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업데이트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수동 / 스토어 업데이트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E5C0"/>
                          </a:solidFill>
                        </a:rPr>
                        <a:t>CWS 자동 업데이트 — 무중단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제거 방지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불가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E5C0"/>
                          </a:solidFill>
                        </a:rPr>
                        <a:t>ExtensionInstallForcelist 정책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315968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 w="6350">
            <a:solidFill>
              <a:srgbClr val="3D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플라이휠:  사용 증가 → 개인화 → 의존도↑ → Switching Cost 기하급수적 증가 → 경쟁사 진입 차단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— 구현 계획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효과: 87% 시간 단축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탐색  23분 → 3분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749040" y="1078992"/>
            <a:ext cx="4216298" cy="201168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749040" y="1078992"/>
            <a:ext cx="4846320" cy="201168"/>
          </a:xfrm>
          <a:prstGeom prst="rect">
            <a:avLst/>
          </a:prstGeom>
          <a:solidFill>
            <a:srgbClr val="FF4560">
              <a:alpha val="12000"/>
            </a:srgbClr>
          </a:solidFill>
          <a:ln w="3810">
            <a:solidFill>
              <a:srgbClr val="FF456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0" y="105156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 작성  5시간 → 30분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49040" y="1719072"/>
            <a:ext cx="4119372" cy="201168"/>
          </a:xfrm>
          <a:prstGeom prst="rect">
            <a:avLst/>
          </a:prstGeom>
          <a:solidFill>
            <a:srgbClr val="FF7C45"/>
          </a:solidFill>
          <a:ln w="12700">
            <a:solidFill>
              <a:srgbClr val="FF7C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749040" y="1719072"/>
            <a:ext cx="4846320" cy="201168"/>
          </a:xfrm>
          <a:prstGeom prst="rect">
            <a:avLst/>
          </a:prstGeom>
          <a:solidFill>
            <a:srgbClr val="FF7C45">
              <a:alpha val="12000"/>
            </a:srgbClr>
          </a:solidFill>
          <a:ln w="3810">
            <a:solidFill>
              <a:srgbClr val="FF7C4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686800" y="16916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3317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  4시간 → 10분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49040" y="2359152"/>
            <a:ext cx="4604004" cy="201168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749040" y="2359152"/>
            <a:ext cx="4846320" cy="201168"/>
          </a:xfrm>
          <a:prstGeom prst="rect">
            <a:avLst/>
          </a:prstGeom>
          <a:solidFill>
            <a:srgbClr val="3D7FFF">
              <a:alpha val="12000"/>
            </a:srgbClr>
          </a:solidFill>
          <a:ln w="3810">
            <a:solidFill>
              <a:srgbClr val="3D7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686800" y="23317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9718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티켓 분류  50분 → 5분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49040" y="2999232"/>
            <a:ext cx="4361688" cy="201168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749040" y="2999232"/>
            <a:ext cx="4846320" cy="201168"/>
          </a:xfrm>
          <a:prstGeom prst="rect">
            <a:avLst/>
          </a:prstGeom>
          <a:solidFill>
            <a:srgbClr val="00E5C0">
              <a:alpha val="12000"/>
            </a:srgbClr>
          </a:solidFill>
          <a:ln w="3810">
            <a:solidFill>
              <a:srgbClr val="00E5C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686800" y="297180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6118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헬프데스크 처리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49040" y="3639312"/>
            <a:ext cx="3877056" cy="2011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749040" y="3639312"/>
            <a:ext cx="4846320" cy="201168"/>
          </a:xfrm>
          <a:prstGeom prst="rect">
            <a:avLst/>
          </a:prstGeom>
          <a:solidFill>
            <a:srgbClr val="A855F7">
              <a:alpha val="12000"/>
            </a:srgbClr>
          </a:solidFill>
          <a:ln w="3810">
            <a:solidFill>
              <a:srgbClr val="A855F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686800" y="36118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187952"/>
            <a:ext cx="2011680" cy="896112"/>
          </a:xfrm>
          <a:prstGeom prst="roundRect">
            <a:avLst>
              <a:gd name="adj" fmla="val 8163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65760" y="4261104"/>
            <a:ext cx="2011680" cy="492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$550K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65760" y="4707697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비용 절감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23744" y="4187952"/>
            <a:ext cx="2011680" cy="896112"/>
          </a:xfrm>
          <a:prstGeom prst="roundRect">
            <a:avLst>
              <a:gd name="adj" fmla="val 8163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523744" y="4261104"/>
            <a:ext cx="2011680" cy="492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60%+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2523744" y="4707697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자동화율 목표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81728" y="4187952"/>
            <a:ext cx="2011680" cy="896112"/>
          </a:xfrm>
          <a:prstGeom prst="roundRect">
            <a:avLst>
              <a:gd name="adj" fmla="val 8163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681728" y="4261104"/>
            <a:ext cx="2011680" cy="492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5만+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681728" y="4707697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 사용자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39712" y="4187952"/>
            <a:ext cx="2011680" cy="896112"/>
          </a:xfrm>
          <a:prstGeom prst="roundRect">
            <a:avLst>
              <a:gd name="adj" fmla="val 8163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839712" y="4261104"/>
            <a:ext cx="2011680" cy="492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839712" y="4707697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ROI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— 구현 계획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실행 권고 4항 — Sprint 0 착수 前 필수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29768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6350">
            <a:solidFill>
              <a:srgbClr val="FF45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297680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SAP Fiori PoC (2일)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362456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Fiori에서 Content Script DOM 접근 검증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DOM 탐색, waitForDOMStable() 구현 확인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0 착수 전 필수 선행 / 실패 시 플랜 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28032" y="960120"/>
            <a:ext cx="429768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6350">
            <a:solidFill>
              <a:srgbClr val="FFB3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828032" y="960120"/>
            <a:ext cx="4297680" cy="36576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65192" y="10515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MARS 비용 시뮬레이션 (1일)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65192" y="1362456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6종 에이전트 1회 리서치 세션 $0.27 검증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$45K 예산 → 167K 세션 → 사용자당 일 3.3회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급등 시 Haiku 다운그레이드 시나리오 준비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953512"/>
            <a:ext cx="429768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6350">
            <a:solidFill>
              <a:srgbClr val="3D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2953512"/>
            <a:ext cx="4297680" cy="36576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30449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hchat-pwa 관계 정의 (협의)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355848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병행 (Extension=데스크톱, PWA=모바일)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Extension Only (PWA 중단)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Extension 우선, PWA를 경량 뷰어로 전환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28032" y="2953512"/>
            <a:ext cx="429768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6350">
            <a:solidFill>
              <a:srgbClr val="00C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828032" y="2953512"/>
            <a:ext cx="429768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965192" y="30449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Multi-tenant 아키텍처 (설계)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65192" y="3355848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16개 계열사 동시 서비스 위한 격리 설계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 + OPA Policy Engine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계열사별 LLM 모델 할당 · 비용 분리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919472"/>
            <a:ext cx="8412480" cy="256032"/>
          </a:xfrm>
          <a:prstGeom prst="roundRect">
            <a:avLst>
              <a:gd name="adj" fmla="val 28571"/>
            </a:avLst>
          </a:prstGeom>
          <a:solidFill>
            <a:srgbClr val="FF4560"/>
          </a:solidFill>
          <a:ln w="6350">
            <a:solidFill>
              <a:srgbClr val="FF45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" y="4946904"/>
            <a:ext cx="8046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0 (14일) 착수 전 4항 완료 필수 — 미완 시 Sprint 0 연기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수치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핵심 수치를 한 눈에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1033272"/>
            <a:ext cx="16642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$645K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020824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투자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2386584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30주 개발 비용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11680" y="96012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011680" y="1033272"/>
            <a:ext cx="16642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12개월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11680" y="2020824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11680" y="2386584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회수 시점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749040" y="96012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749040" y="1033272"/>
            <a:ext cx="16642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$12.1M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749040" y="2020824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목표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49040" y="2386584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24개월 기준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486400" y="96012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0" y="1033272"/>
            <a:ext cx="16642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$550K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0" y="2020824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절감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2386584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4대 병목 합산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23760" y="96012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223760" y="1033272"/>
            <a:ext cx="16642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223760" y="2020824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단축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23760" y="2386584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프로세스 개선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292608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74320" y="2999232"/>
            <a:ext cx="16642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74320" y="3986784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 사용자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4352544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현대차그룹 임직원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011680" y="292608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2011680" y="2999232"/>
            <a:ext cx="16642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2011680" y="3986784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0" y="4352544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가용성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749040" y="292608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749040" y="2999232"/>
            <a:ext cx="16642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270%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3749040" y="3986784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ROI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49040" y="4352544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투자 대비 수익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486400" y="292608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486400" y="2999232"/>
            <a:ext cx="16642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5486400" y="3986784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설치율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4352544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배포 정책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223760" y="292608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7223760" y="2999232"/>
            <a:ext cx="16642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4.5+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7223760" y="3986784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CWS 평점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23760" y="4352544"/>
            <a:ext cx="16642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Web Store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4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C">
              <a:alpha val="40000"/>
            </a:srgbClr>
          </a:solidFill>
          <a:ln w="12700">
            <a:solidFill>
              <a:srgbClr val="0406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is the New OS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Extension이 엔터프라이즈 AI Agent의 최적 실행 환경입니다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19202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463040" y="19933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A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30주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63040" y="24505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35808" y="19202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035808" y="19933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$645K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035808" y="24505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19202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08576" y="19933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12개월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08576" y="24505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회수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81344" y="19202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6350">
            <a:solidFill>
              <a:srgbClr val="1E2D4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181344" y="19933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$12.1M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81344" y="24505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8412480" cy="1691640"/>
          </a:xfrm>
          <a:prstGeom prst="roundRect">
            <a:avLst>
              <a:gd name="adj" fmla="val 4324"/>
            </a:avLst>
          </a:prstGeom>
          <a:solidFill>
            <a:srgbClr val="0F172A"/>
          </a:solidFill>
          <a:ln w="6350">
            <a:solidFill>
              <a:srgbClr val="FFB3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48640" y="307238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0 착수 전 3대 선행과제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383280"/>
            <a:ext cx="256032" cy="256032"/>
          </a:xfrm>
          <a:prstGeom prst="ellipse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2920" y="3383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" y="339242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Fiori DOM 접근 PoC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41248" y="357530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Script 권한 및 Shadow DOM 투과 검증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46720" y="341071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2일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" y="3767328"/>
            <a:ext cx="256032" cy="256032"/>
          </a:xfrm>
          <a:prstGeom prst="ellipse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02920" y="37673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" y="377647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1회 리서치 비용 시뮬레이션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1248" y="395935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멀티모델 오케스트레이션 비용 예측 ($0.27 검증)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46720" y="37947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1일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" y="4151376"/>
            <a:ext cx="256032" cy="256032"/>
          </a:xfrm>
          <a:prstGeom prst="ellipse">
            <a:avLst/>
          </a:prstGeom>
          <a:solidFill>
            <a:srgbClr val="3D7FFF"/>
          </a:solidFill>
          <a:ln w="12700">
            <a:solidFill>
              <a:srgbClr val="3D7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02920" y="41513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1248" y="416052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hchat-pwa 관계 정의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41248" y="434340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병행/대체/보완 전략 결정 (경영진 의사결정 필요)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046720" y="41788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협의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현대오토에버  ·  AI 플랫폼팀  ·  2026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3558</Words>
  <Application>Microsoft Macintosh PowerPoint</Application>
  <PresentationFormat>화면 슬라이드 쇼(16:9)</PresentationFormat>
  <Paragraphs>907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4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 Chat AI Browser OS — 서비스 기획서</dc:title>
  <dc:subject>PptxGenJS Presentation</dc:subject>
  <dc:creator>현대오토에버 AI 플랫폼팀</dc:creator>
  <cp:lastModifiedBy>222</cp:lastModifiedBy>
  <cp:revision>1</cp:revision>
  <dcterms:created xsi:type="dcterms:W3CDTF">2026-03-15T10:17:26Z</dcterms:created>
  <dcterms:modified xsi:type="dcterms:W3CDTF">2026-03-15T10:20:38Z</dcterms:modified>
</cp:coreProperties>
</file>